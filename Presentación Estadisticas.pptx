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29f08c73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29f08c73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29f08c7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29f08c7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29f08c7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29f08c7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9f08c73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9f08c73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29f08c73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29f08c73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29f08c73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29f08c73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29f08c73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29f08c73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5f16598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5f1659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f165981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f16598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5f165981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5f165981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5f165981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5f165981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5f165981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5f165981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66600"/>
            <a:ext cx="9091500" cy="5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700">
                <a:solidFill>
                  <a:schemeClr val="lt1"/>
                </a:solidFill>
              </a:rPr>
              <a:t>Análisis Estadístico de la Premier League Inglesa</a:t>
            </a:r>
            <a:endParaRPr b="1" sz="3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lt1"/>
                </a:solidFill>
              </a:rPr>
              <a:t>Proyecto Final - Estadística 2025-2026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lt1"/>
                </a:solidFill>
              </a:rPr>
              <a:t>Autores:</a:t>
            </a:r>
            <a:br>
              <a:rPr lang="es-419" sz="2200">
                <a:solidFill>
                  <a:schemeClr val="lt1"/>
                </a:solidFill>
              </a:rPr>
            </a:br>
            <a:r>
              <a:rPr lang="es-419" sz="2200">
                <a:solidFill>
                  <a:schemeClr val="lt1"/>
                </a:solidFill>
              </a:rPr>
              <a:t>Ronald Cabrera Martínez (C311)</a:t>
            </a:r>
            <a:br>
              <a:rPr lang="es-419" sz="2200">
                <a:solidFill>
                  <a:schemeClr val="lt1"/>
                </a:solidFill>
              </a:rPr>
            </a:br>
            <a:r>
              <a:rPr lang="es-419" sz="2200">
                <a:solidFill>
                  <a:schemeClr val="lt1"/>
                </a:solidFill>
              </a:rPr>
              <a:t>Josué J. Senarega Claro (C311)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lt1"/>
                </a:solidFill>
              </a:rPr>
              <a:t>Universidad de La Habana</a:t>
            </a:r>
            <a:br>
              <a:rPr lang="es-419" sz="2200">
                <a:solidFill>
                  <a:schemeClr val="lt1"/>
                </a:solidFill>
              </a:rPr>
            </a:br>
            <a:r>
              <a:rPr lang="es-419" sz="2200">
                <a:solidFill>
                  <a:schemeClr val="lt1"/>
                </a:solidFill>
              </a:rPr>
              <a:t>Facultad de Matemática y Computación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rgbClr val="1F232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293575"/>
            <a:ext cx="9144000" cy="45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lt1"/>
                </a:solidFill>
              </a:rPr>
              <a:t>Contexto y Dataset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El Problema: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Premier League: Liga más seguida globalmente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Mercado de apuestas: $500 mil millones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¿Qué factores determinan los resultados?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Dataset: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Fuente: Kaggle - English Premier League (2000-2018)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Tamaño: 6,840 partidos, 40 variables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Periodo: 18 temporadas completas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Tres Preguntas de Investigación: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1. ¿Existe ventaja de jugar como local?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2. ¿Qué variables predicen mejor el resultado?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3. ¿Se pueden identificar estilos de juego?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403975"/>
            <a:ext cx="8915400" cy="4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lt1"/>
                </a:solidFill>
              </a:rPr>
              <a:t>Pregunta 1: Hipótesis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 </a:t>
            </a:r>
            <a:r>
              <a:rPr b="1" lang="es-419">
                <a:solidFill>
                  <a:schemeClr val="lt1"/>
                </a:solidFill>
              </a:rPr>
              <a:t>¿Existe una ventaja estadísticamente significativa de jugar como local?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Hipótesis Nula (H₀):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No existe diferencia significativa en el rendimiento entre equipos locales y visitantes.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Hipótesis Alternativa (H₁):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Los equipos locales tienen un rendimiento significativamente superior a los visitantes.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Técnicas Aplicadas: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✅ Prueba t de Student (comparación de medias de goles)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✅ Prueba Chi-Cuadrado (asociación localía-resultado)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✅ d de Cohen (magnitud del efecto)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72950" y="427475"/>
            <a:ext cx="8798100" cy="43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lt1"/>
                </a:solidFill>
              </a:rPr>
              <a:t>Pregunta 1: Resultados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Prueba t de Student: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419" sz="1500">
                <a:solidFill>
                  <a:schemeClr val="lt1"/>
                </a:solidFill>
              </a:rPr>
              <a:t>Diferencia de goles: 0.40 goles a favor del local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419" sz="1500">
                <a:solidFill>
                  <a:schemeClr val="lt1"/>
                </a:solidFill>
              </a:rPr>
              <a:t>Estadístico t: 19.13 | p-valor: &lt; 0.001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Prueba Chi-Cuadrado: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419" sz="1500">
                <a:solidFill>
                  <a:schemeClr val="lt1"/>
                </a:solidFill>
              </a:rPr>
              <a:t>χ²: 533.92 | p-valor: &lt; 0.001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Magnitud del Efecto: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419" sz="1500">
                <a:solidFill>
                  <a:schemeClr val="lt1"/>
                </a:solidFill>
              </a:rPr>
              <a:t>d de Cohen: 0.33 (efecto mediano)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419" sz="1500">
                <a:solidFill>
                  <a:schemeClr val="lt1"/>
                </a:solidFill>
              </a:rPr>
              <a:t>Distribución: 46.4% victorias locales vs 28.0% visitantes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lt1"/>
                </a:solidFill>
              </a:rPr>
              <a:t>💡 RESPUESTA: SÍ, existe ventaja local estadísticamente significativa.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9144000" cy="5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 Pregunta 2: Metodología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 ¿Qué variables predicen mejor el resultado de un partido?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Modelo: Regresión Logística Multinomial (3 clases: H/D/A)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Variables Predictoras: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-  'HTFormPts',     # Forma reciente local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- 'ATFormPts',     # Forma reciente visitante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- 'DiffPts',       # Diferencia de Puntos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- 'MW',            # Jornada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- 'HTWinStreak5',  # Racha de victorias local (5)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- 'ATWinStreak5',  # Racha de victorias visitante (5)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Proceso: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1. División 70/30 (train/test)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2. Estandarización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3. Entrenamiento y evaluación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9091500" cy="5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lt1"/>
                </a:solidFill>
              </a:rPr>
              <a:t>Pregunta 2: Resultados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Rendimiento del Modelo: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</a:t>
            </a:r>
            <a:r>
              <a:rPr b="1" lang="es-419">
                <a:solidFill>
                  <a:schemeClr val="lt1"/>
                </a:solidFill>
              </a:rPr>
              <a:t>Accuracy Test:</a:t>
            </a:r>
            <a:r>
              <a:rPr lang="es-419">
                <a:solidFill>
                  <a:schemeClr val="lt1"/>
                </a:solidFill>
              </a:rPr>
              <a:t> 50.10% | </a:t>
            </a:r>
            <a:r>
              <a:rPr b="1" lang="es-419">
                <a:solidFill>
                  <a:schemeClr val="lt1"/>
                </a:solidFill>
              </a:rPr>
              <a:t>Baseline:</a:t>
            </a:r>
            <a:r>
              <a:rPr lang="es-419">
                <a:solidFill>
                  <a:schemeClr val="lt1"/>
                </a:solidFill>
              </a:rPr>
              <a:t> 46.44% | </a:t>
            </a:r>
            <a:r>
              <a:rPr b="1" lang="es-419">
                <a:solidFill>
                  <a:schemeClr val="lt1"/>
                </a:solidFill>
              </a:rPr>
              <a:t>Mejora:</a:t>
            </a:r>
            <a:r>
              <a:rPr lang="es-419">
                <a:solidFill>
                  <a:schemeClr val="lt1"/>
                </a:solidFill>
              </a:rPr>
              <a:t> +3.65 pp ✅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Variables Más Influyentes:</a:t>
            </a:r>
            <a:endParaRPr sz="1200">
              <a:solidFill>
                <a:srgbClr val="D5CED9"/>
              </a:solidFill>
              <a:highlight>
                <a:srgbClr val="23262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🥇 DiffPts (Diferencia de Puntos): Variable más importante (coeficiente: 0.380 para H, -0.361 para A)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🥈 HTFormPts/ATFormPts (Forma Reciente): Impacto moderado pero consistente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lt1"/>
                </a:solidFill>
              </a:rPr>
              <a:t>🥉 HTWinStreak5/ATWinStreak5 (Racha de 5 partidos): Influencia limitada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lt1"/>
                </a:solidFill>
              </a:rPr>
              <a:t>❌ Jornada (MW) casi irrelevante: Coeficiente 0.018 para H (impacto mínimo)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Hallazgos Clave: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Las diferencias relativas (DiffPts) predicen mejor que valores absolutos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Los empates son difíciles de predecir (recall: 24.4%, solo 1 de cada 4 empates correctos)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- Para apuestas nos da </a:t>
            </a:r>
            <a:r>
              <a:rPr lang="es-419">
                <a:solidFill>
                  <a:schemeClr val="lt1"/>
                </a:solidFill>
              </a:rPr>
              <a:t>garantía</a:t>
            </a:r>
            <a:r>
              <a:rPr lang="es-419">
                <a:solidFill>
                  <a:schemeClr val="lt1"/>
                </a:solidFill>
              </a:rPr>
              <a:t> solamente cuando el modelo predice H (ya que es H real el 63% de las veces)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💡 RESPUESTA: DiffPts y en un escalón menor Forma Reciente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output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563675"/>
            <a:ext cx="91440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lt1"/>
                </a:solidFill>
              </a:rPr>
              <a:t>Pregunta 3: Metodología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¿Se pueden identificar grupos de equipos con estilos similares?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Técnicas de Clustering: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- Calcular variables para clustering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lt1"/>
                </a:solidFill>
              </a:rPr>
              <a:t>- </a:t>
            </a:r>
            <a:r>
              <a:rPr b="1" lang="es-419" sz="1500">
                <a:solidFill>
                  <a:schemeClr val="lt1"/>
                </a:solidFill>
              </a:rPr>
              <a:t>Método del Codo + Silhouette</a:t>
            </a:r>
            <a:r>
              <a:rPr lang="es-419" sz="1500">
                <a:solidFill>
                  <a:schemeClr val="lt1"/>
                </a:solidFill>
              </a:rPr>
              <a:t> para k óptimo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- </a:t>
            </a:r>
            <a:r>
              <a:rPr b="1" lang="es-419" sz="1500">
                <a:solidFill>
                  <a:schemeClr val="lt1"/>
                </a:solidFill>
              </a:rPr>
              <a:t>K-Means</a:t>
            </a:r>
            <a:r>
              <a:rPr lang="es-419" sz="1500">
                <a:solidFill>
                  <a:schemeClr val="lt1"/>
                </a:solidFill>
              </a:rPr>
              <a:t> para agrupar equipos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- </a:t>
            </a:r>
            <a:r>
              <a:rPr b="1" lang="es-419" sz="1500">
                <a:solidFill>
                  <a:schemeClr val="lt1"/>
                </a:solidFill>
              </a:rPr>
              <a:t>PCA</a:t>
            </a:r>
            <a:r>
              <a:rPr lang="es-419" sz="1500">
                <a:solidFill>
                  <a:schemeClr val="lt1"/>
                </a:solidFill>
              </a:rPr>
              <a:t> para visualización en 2D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- </a:t>
            </a:r>
            <a:r>
              <a:rPr b="1" lang="es-419" sz="1500">
                <a:solidFill>
                  <a:schemeClr val="lt1"/>
                </a:solidFill>
              </a:rPr>
              <a:t>ANOVA</a:t>
            </a:r>
            <a:r>
              <a:rPr lang="es-419" sz="1500">
                <a:solidFill>
                  <a:schemeClr val="lt1"/>
                </a:solidFill>
              </a:rPr>
              <a:t> para validación estadística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Variables de Agrupación (5): Goles anotados promedio , Goles recibidos promedio, Diferencia de goles promedio, Puntos promedio por partido, Porcentaje de victorias.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9144000" cy="5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lt1"/>
                </a:solidFill>
              </a:rPr>
              <a:t> </a:t>
            </a:r>
            <a:r>
              <a:rPr b="1" lang="es-419" sz="1500">
                <a:solidFill>
                  <a:schemeClr val="lt1"/>
                </a:solidFill>
              </a:rPr>
              <a:t>Pregunta 3: Clusters Identificados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K-Means con k=4 clusters óptimos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**🏆 Cluster 2 - DOMINANTES (11.4%):**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Arsenal, Chelsea, Liverpool, Man United, Man City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→ **1.91 pts/partido** | +0.85 dif. goles | 56% victorias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**⚖️ Cluster 0 - MEDIA-ALTA (18.2%):**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Blackburn, Everton, Newcastle, Tottenham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→ **1.37 pts/partido** | Balance neutral | 38% victorias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**🛡️ Cluster 1 - MEDIA-BAJA (47.7%):**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Aston Villa, Bolton, Fulham, Southampton, West Ham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→ **1.12 pts/partido** | -0.39 dif. | 30% victorias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**⚠️ Cluster 3 - DÉBILES (22.7%):**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Blackpool, Bradford, Cardiff, Derby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→ **0.87 pts/partido** | -0.83 dif. | 21% victorias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**Validación ANOVA:** p &lt; 0.001 y F mucho &gt; que 1 en TODAS las variables ✅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💡 RESPUESTA: SÍ, existen 4 estilos claramente diferenciados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outpu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9144000" cy="51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Integración de Resultados</a:t>
            </a:r>
            <a:endParaRPr b="1"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Relaciones entre los Hallazgos:</a:t>
            </a:r>
            <a:endParaRPr b="1"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1. Ventaja Local + Rendimiento Relativo:</a:t>
            </a:r>
            <a:endParaRPr b="1"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 La ventaja local es real (+0.4 goles)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 PERO no garantiza victoria si el visitante es superior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 Equipos dominantes vencen incluso de visita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2. Predicción + Clustering:</a:t>
            </a:r>
            <a:endParaRPr b="1"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 Los clusters predicen rendimiento: dominante ~56% victorias vs débil ~21%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3. Forma Reciente + Estilo:</a:t>
            </a:r>
            <a:endParaRPr b="1"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 La forma captura cambios temporales en clusters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 ATFormPts es la 3ª variable más importante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Conclusión Integrada:</a:t>
            </a:r>
            <a:endParaRPr b="1"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 fútbol tiene patrones estadísticos claros y explotables, aunque conserva naturaleza estocástica (~53% predictibilidad máxima razonable).</a:t>
            </a:r>
            <a:endParaRPr b="1"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1AB2A"/>
            </a:gs>
            <a:gs pos="100000">
              <a:srgbClr val="203E13"/>
            </a:gs>
          </a:gsLst>
          <a:lin ang="5400012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117600"/>
            <a:ext cx="9144000" cy="49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lt1"/>
                </a:solidFill>
              </a:rPr>
              <a:t>Conclusión Final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Síntesis de Hallazgos: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✅ **Ventaja local:** REAL y medible (0.4 goles, 18 pp diferencia)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✅ **Predicción:** Rendimiento relativo es el mejor predictor (~53% accuracy)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✅ **Clustering:** 4 jerarquías claras que persisten en el tiempo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lt1"/>
                </a:solidFill>
              </a:rPr>
              <a:t>Metodología Aplicada: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6 técnicas estadísticas (t-test, Chi², Regresión Logística, K-Means, PCA, ANOVA)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Dataset completo: 6,840 partidos, 18 temporadas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</a:rPr>
              <a:t> </a:t>
            </a:r>
            <a:r>
              <a:rPr b="1" lang="es-419">
                <a:solidFill>
                  <a:schemeClr val="lt1"/>
                </a:solidFill>
              </a:rPr>
              <a:t>Reflexión Final: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</a:rPr>
              <a:t>"El fútbol, aunque impredecible, tiene patrones estadísticos claros y explotables. El análisis estadístico no elimina la emoción del deporte, pero proporciona una lente objetiva para comprender mejor el 'deporte rey'."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