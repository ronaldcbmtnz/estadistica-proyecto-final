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b29f08c739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3b29f08c739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b29f08c739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b29f08c739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b29f08c739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b29f08c739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b29f08c739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 name="Google Shape;86;g3b29f08c739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g3b29f08c739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 name="Google Shape;95;g3b29f08c739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b29f08c739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b29f08c739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b29f08c739_0_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b29f08c739_0_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b5f165981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b5f165981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b5f165981a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b5f165981a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b5f165981a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b5f165981a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b5f165981a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b5f165981a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g3b5f165981a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4" name="Google Shape;144;g3b5f165981a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be20f45b71_0_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1" name="Google Shape;151;g3be20f45b71_0_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be20f45b71_0_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be20f45b71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51AB2A"/>
            </a:gs>
            <a:gs pos="100000">
              <a:srgbClr val="203E13"/>
            </a:gs>
          </a:gsLst>
          <a:lin ang="5400012" scaled="0"/>
        </a:gradFill>
      </p:bgPr>
    </p:bg>
    <p:spTree>
      <p:nvGrpSpPr>
        <p:cNvPr id="53" name="Shape 53"/>
        <p:cNvGrpSpPr/>
        <p:nvPr/>
      </p:nvGrpSpPr>
      <p:grpSpPr>
        <a:xfrm>
          <a:off x="0" y="0"/>
          <a:ext cx="0" cy="0"/>
          <a:chOff x="0" y="0"/>
          <a:chExt cx="0" cy="0"/>
        </a:xfrm>
      </p:grpSpPr>
      <p:sp>
        <p:nvSpPr>
          <p:cNvPr id="54" name="Google Shape;54;p13"/>
          <p:cNvSpPr txBox="1"/>
          <p:nvPr>
            <p:ph type="title"/>
          </p:nvPr>
        </p:nvSpPr>
        <p:spPr>
          <a:xfrm>
            <a:off x="144750" y="292375"/>
            <a:ext cx="8854500" cy="64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s-419" sz="2120">
                <a:solidFill>
                  <a:schemeClr val="lt1"/>
                </a:solidFill>
              </a:rPr>
              <a:t>Tema: </a:t>
            </a:r>
            <a:r>
              <a:rPr lang="es-419" sz="2120">
                <a:solidFill>
                  <a:schemeClr val="lt1"/>
                </a:solidFill>
              </a:rPr>
              <a:t>Análisis</a:t>
            </a:r>
            <a:r>
              <a:rPr lang="es-419" sz="2120">
                <a:solidFill>
                  <a:schemeClr val="lt1"/>
                </a:solidFill>
              </a:rPr>
              <a:t> de resultados y estilos de partidos en la Premier League.</a:t>
            </a:r>
            <a:endParaRPr sz="2020">
              <a:solidFill>
                <a:schemeClr val="lt1"/>
              </a:solidFill>
            </a:endParaRPr>
          </a:p>
        </p:txBody>
      </p:sp>
      <p:sp>
        <p:nvSpPr>
          <p:cNvPr id="55" name="Google Shape;55;p13"/>
          <p:cNvSpPr txBox="1"/>
          <p:nvPr>
            <p:ph idx="1" type="body"/>
          </p:nvPr>
        </p:nvSpPr>
        <p:spPr>
          <a:xfrm>
            <a:off x="178500" y="4126525"/>
            <a:ext cx="2806500" cy="810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419" sz="1500">
                <a:solidFill>
                  <a:schemeClr val="lt1"/>
                </a:solidFill>
              </a:rPr>
              <a:t>Ronald Cabrera Martinez C311</a:t>
            </a:r>
            <a:endParaRPr sz="1500">
              <a:solidFill>
                <a:schemeClr val="lt1"/>
              </a:solidFill>
            </a:endParaRPr>
          </a:p>
          <a:p>
            <a:pPr indent="0" lvl="0" marL="0" rtl="0" algn="l">
              <a:spcBef>
                <a:spcPts val="1200"/>
              </a:spcBef>
              <a:spcAft>
                <a:spcPts val="1200"/>
              </a:spcAft>
              <a:buNone/>
            </a:pPr>
            <a:r>
              <a:rPr lang="es-419" sz="1500">
                <a:solidFill>
                  <a:schemeClr val="lt1"/>
                </a:solidFill>
              </a:rPr>
              <a:t>Josué J. Senarega Claro C311</a:t>
            </a:r>
            <a:endParaRPr sz="1500">
              <a:solidFill>
                <a:schemeClr val="lt1"/>
              </a:solidFill>
            </a:endParaRPr>
          </a:p>
        </p:txBody>
      </p:sp>
      <p:sp>
        <p:nvSpPr>
          <p:cNvPr id="56" name="Google Shape;56;p13"/>
          <p:cNvSpPr txBox="1"/>
          <p:nvPr>
            <p:ph idx="2" type="body"/>
          </p:nvPr>
        </p:nvSpPr>
        <p:spPr>
          <a:xfrm>
            <a:off x="319925" y="773589"/>
            <a:ext cx="8559600" cy="40749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s-419" sz="1600">
                <a:solidFill>
                  <a:schemeClr val="lt1"/>
                </a:solidFill>
              </a:rPr>
              <a:t>PREGUNTAS DE INVESTIGACIÓN</a:t>
            </a:r>
            <a:endParaRPr sz="1600">
              <a:solidFill>
                <a:schemeClr val="lt1"/>
              </a:solidFill>
            </a:endParaRPr>
          </a:p>
          <a:p>
            <a:pPr indent="0" lvl="0" marL="0" rtl="0" algn="l">
              <a:spcBef>
                <a:spcPts val="1200"/>
              </a:spcBef>
              <a:spcAft>
                <a:spcPts val="1200"/>
              </a:spcAft>
              <a:buNone/>
            </a:pPr>
            <a:r>
              <a:rPr lang="es-419" sz="1600">
                <a:solidFill>
                  <a:schemeClr val="lt1"/>
                </a:solidFill>
              </a:rPr>
              <a:t>                       1                                              2                                                  3</a:t>
            </a:r>
            <a:endParaRPr sz="1600">
              <a:solidFill>
                <a:schemeClr val="lt1"/>
              </a:solidFill>
            </a:endParaRPr>
          </a:p>
        </p:txBody>
      </p:sp>
      <p:sp>
        <p:nvSpPr>
          <p:cNvPr id="57" name="Google Shape;57;p13"/>
          <p:cNvSpPr txBox="1"/>
          <p:nvPr/>
        </p:nvSpPr>
        <p:spPr>
          <a:xfrm>
            <a:off x="448600" y="1637000"/>
            <a:ext cx="2242800" cy="2043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dk2"/>
              </a:solidFill>
            </a:endParaRPr>
          </a:p>
        </p:txBody>
      </p:sp>
      <p:sp>
        <p:nvSpPr>
          <p:cNvPr id="58" name="Google Shape;58;p13"/>
          <p:cNvSpPr txBox="1"/>
          <p:nvPr/>
        </p:nvSpPr>
        <p:spPr>
          <a:xfrm>
            <a:off x="601000" y="1789400"/>
            <a:ext cx="2242800" cy="2043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dk2"/>
              </a:solidFill>
            </a:endParaRPr>
          </a:p>
        </p:txBody>
      </p:sp>
      <p:sp>
        <p:nvSpPr>
          <p:cNvPr id="59" name="Google Shape;59;p13"/>
          <p:cNvSpPr txBox="1"/>
          <p:nvPr/>
        </p:nvSpPr>
        <p:spPr>
          <a:xfrm>
            <a:off x="601000" y="1437825"/>
            <a:ext cx="2361000" cy="1549500"/>
          </a:xfrm>
          <a:prstGeom prst="rect">
            <a:avLst/>
          </a:prstGeom>
          <a:noFill/>
          <a:ln>
            <a:noFill/>
          </a:ln>
        </p:spPr>
        <p:txBody>
          <a:bodyPr anchorCtr="0" anchor="t" bIns="91425" lIns="91425" spcFirstLastPara="1" rIns="91425" wrap="square" tIns="91425">
            <a:noAutofit/>
          </a:bodyPr>
          <a:lstStyle/>
          <a:p>
            <a:pPr indent="0" lvl="0" marL="0" rtl="0" algn="l">
              <a:lnSpc>
                <a:spcPct val="137500"/>
              </a:lnSpc>
              <a:spcBef>
                <a:spcPts val="0"/>
              </a:spcBef>
              <a:spcAft>
                <a:spcPts val="0"/>
              </a:spcAft>
              <a:buClr>
                <a:schemeClr val="dk1"/>
              </a:buClr>
              <a:buSzPts val="1100"/>
              <a:buFont typeface="Arial"/>
              <a:buNone/>
            </a:pPr>
            <a:r>
              <a:rPr lang="es-419" sz="1500">
                <a:solidFill>
                  <a:srgbClr val="FFFFFF"/>
                </a:solidFill>
              </a:rPr>
              <a:t>¿</a:t>
            </a:r>
            <a:r>
              <a:rPr lang="es-419" sz="1600">
                <a:solidFill>
                  <a:schemeClr val="lt1"/>
                </a:solidFill>
              </a:rPr>
              <a:t>El equipo local gana con más frecuencia de lo que lo hace el visitante</a:t>
            </a:r>
            <a:r>
              <a:rPr lang="es-419" sz="1500">
                <a:solidFill>
                  <a:srgbClr val="FFFFFF"/>
                </a:solidFill>
              </a:rPr>
              <a:t>?</a:t>
            </a:r>
            <a:endParaRPr sz="1600">
              <a:solidFill>
                <a:schemeClr val="lt1"/>
              </a:solidFill>
            </a:endParaRPr>
          </a:p>
          <a:p>
            <a:pPr indent="0" lvl="0" marL="0" rtl="0" algn="l">
              <a:spcBef>
                <a:spcPts val="0"/>
              </a:spcBef>
              <a:spcAft>
                <a:spcPts val="0"/>
              </a:spcAft>
              <a:buNone/>
            </a:pPr>
            <a:r>
              <a:t/>
            </a:r>
            <a:endParaRPr sz="1800">
              <a:solidFill>
                <a:schemeClr val="dk2"/>
              </a:solidFill>
            </a:endParaRPr>
          </a:p>
        </p:txBody>
      </p:sp>
      <p:sp>
        <p:nvSpPr>
          <p:cNvPr id="60" name="Google Shape;60;p13"/>
          <p:cNvSpPr txBox="1"/>
          <p:nvPr/>
        </p:nvSpPr>
        <p:spPr>
          <a:xfrm>
            <a:off x="3402125" y="1525275"/>
            <a:ext cx="2361000" cy="1297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419" sz="1500">
                <a:solidFill>
                  <a:srgbClr val="FFFFFF"/>
                </a:solidFill>
              </a:rPr>
              <a:t>¿</a:t>
            </a:r>
            <a:r>
              <a:rPr lang="es-419" sz="1700">
                <a:solidFill>
                  <a:schemeClr val="lt1"/>
                </a:solidFill>
              </a:rPr>
              <a:t>El resultado al descanso </a:t>
            </a:r>
            <a:r>
              <a:rPr lang="es-419" sz="1700">
                <a:solidFill>
                  <a:schemeClr val="lt1"/>
                </a:solidFill>
              </a:rPr>
              <a:t>determina </a:t>
            </a:r>
            <a:r>
              <a:rPr lang="es-419" sz="1700">
                <a:solidFill>
                  <a:schemeClr val="lt1"/>
                </a:solidFill>
              </a:rPr>
              <a:t>el resultado final ?</a:t>
            </a:r>
            <a:endParaRPr sz="1700">
              <a:solidFill>
                <a:schemeClr val="lt1"/>
              </a:solidFill>
            </a:endParaRPr>
          </a:p>
        </p:txBody>
      </p:sp>
      <p:sp>
        <p:nvSpPr>
          <p:cNvPr id="61" name="Google Shape;61;p13"/>
          <p:cNvSpPr txBox="1"/>
          <p:nvPr/>
        </p:nvSpPr>
        <p:spPr>
          <a:xfrm>
            <a:off x="6355650" y="1402600"/>
            <a:ext cx="2242800" cy="1737600"/>
          </a:xfrm>
          <a:prstGeom prst="rect">
            <a:avLst/>
          </a:prstGeom>
          <a:noFill/>
          <a:ln>
            <a:noFill/>
          </a:ln>
        </p:spPr>
        <p:txBody>
          <a:bodyPr anchorCtr="0" anchor="t" bIns="91425" lIns="91425" spcFirstLastPara="1" rIns="91425" wrap="square" tIns="91425">
            <a:noAutofit/>
          </a:bodyPr>
          <a:lstStyle/>
          <a:p>
            <a:pPr indent="0" lvl="0" marL="0" rtl="0" algn="l">
              <a:lnSpc>
                <a:spcPct val="137500"/>
              </a:lnSpc>
              <a:spcBef>
                <a:spcPts val="0"/>
              </a:spcBef>
              <a:spcAft>
                <a:spcPts val="0"/>
              </a:spcAft>
              <a:buClr>
                <a:schemeClr val="dk1"/>
              </a:buClr>
              <a:buSzPts val="1100"/>
              <a:buFont typeface="Arial"/>
              <a:buNone/>
            </a:pPr>
            <a:r>
              <a:rPr lang="es-419" sz="1500">
                <a:solidFill>
                  <a:schemeClr val="lt1"/>
                </a:solidFill>
              </a:rPr>
              <a:t>¿Podemos identificar estilos de partidos basándonos en cantidad total de goles y cantidad total de tiros?</a:t>
            </a:r>
            <a:endParaRPr sz="1500">
              <a:solidFill>
                <a:schemeClr val="lt1"/>
              </a:solidFill>
            </a:endParaRPr>
          </a:p>
          <a:p>
            <a:pPr indent="0" lvl="0" marL="0" rtl="0" algn="l">
              <a:spcBef>
                <a:spcPts val="0"/>
              </a:spcBef>
              <a:spcAft>
                <a:spcPts val="0"/>
              </a:spcAft>
              <a:buNone/>
            </a:pPr>
            <a:r>
              <a:t/>
            </a:r>
            <a:endParaRPr sz="1800">
              <a:solidFill>
                <a:schemeClr val="dk2"/>
              </a:solidFill>
            </a:endParaRPr>
          </a:p>
        </p:txBody>
      </p:sp>
      <p:sp>
        <p:nvSpPr>
          <p:cNvPr id="62" name="Google Shape;62;p13"/>
          <p:cNvSpPr txBox="1"/>
          <p:nvPr/>
        </p:nvSpPr>
        <p:spPr>
          <a:xfrm>
            <a:off x="3137775" y="3140250"/>
            <a:ext cx="5542800" cy="18201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419" sz="1800">
                <a:solidFill>
                  <a:schemeClr val="lt1"/>
                </a:solidFill>
              </a:rPr>
              <a:t>Variables </a:t>
            </a:r>
            <a:r>
              <a:rPr lang="es-419" sz="1800">
                <a:solidFill>
                  <a:schemeClr val="lt1"/>
                </a:solidFill>
              </a:rPr>
              <a:t>Principales:</a:t>
            </a:r>
            <a:endParaRPr sz="1800">
              <a:solidFill>
                <a:schemeClr val="lt1"/>
              </a:solidFill>
            </a:endParaRPr>
          </a:p>
          <a:p>
            <a:pPr indent="-342900" lvl="0" marL="457200" rtl="0" algn="l">
              <a:spcBef>
                <a:spcPts val="0"/>
              </a:spcBef>
              <a:spcAft>
                <a:spcPts val="0"/>
              </a:spcAft>
              <a:buClr>
                <a:schemeClr val="lt1"/>
              </a:buClr>
              <a:buSzPts val="1800"/>
              <a:buChar char="-"/>
            </a:pPr>
            <a:r>
              <a:rPr lang="es-419" sz="1600">
                <a:solidFill>
                  <a:schemeClr val="lt1"/>
                </a:solidFill>
              </a:rPr>
              <a:t>FTR, HTR (resultado final del partido y resultado del partido al medio tiempo.)</a:t>
            </a:r>
            <a:r>
              <a:rPr lang="es-419" sz="1800">
                <a:solidFill>
                  <a:schemeClr val="lt1"/>
                </a:solidFill>
              </a:rPr>
              <a:t> </a:t>
            </a:r>
            <a:endParaRPr sz="1800">
              <a:solidFill>
                <a:schemeClr val="lt1"/>
              </a:solidFill>
            </a:endParaRPr>
          </a:p>
          <a:p>
            <a:pPr indent="-330200" lvl="0" marL="457200" rtl="0" algn="l">
              <a:spcBef>
                <a:spcPts val="0"/>
              </a:spcBef>
              <a:spcAft>
                <a:spcPts val="0"/>
              </a:spcAft>
              <a:buClr>
                <a:schemeClr val="lt1"/>
              </a:buClr>
              <a:buSzPts val="1600"/>
              <a:buChar char="-"/>
            </a:pPr>
            <a:r>
              <a:rPr lang="es-419" sz="1600">
                <a:solidFill>
                  <a:schemeClr val="lt1"/>
                </a:solidFill>
              </a:rPr>
              <a:t>FTHG, FTAG (cantidad de goles marcados al final del partido por los locales y por los visitantes.)</a:t>
            </a:r>
            <a:endParaRPr sz="1600">
              <a:solidFill>
                <a:schemeClr val="lt1"/>
              </a:solidFill>
            </a:endParaRPr>
          </a:p>
          <a:p>
            <a:pPr indent="-330200" lvl="0" marL="457200" rtl="0" algn="l">
              <a:spcBef>
                <a:spcPts val="0"/>
              </a:spcBef>
              <a:spcAft>
                <a:spcPts val="0"/>
              </a:spcAft>
              <a:buClr>
                <a:schemeClr val="lt1"/>
              </a:buClr>
              <a:buSzPts val="1600"/>
              <a:buChar char="-"/>
            </a:pPr>
            <a:r>
              <a:rPr lang="es-419" sz="1600">
                <a:solidFill>
                  <a:schemeClr val="lt1"/>
                </a:solidFill>
              </a:rPr>
              <a:t>HS, AS (tiros totales al final del partido del local y del visitante.)</a:t>
            </a:r>
            <a:endParaRPr sz="1600">
              <a:solidFill>
                <a:schemeClr val="lt1"/>
              </a:solidFill>
            </a:endParaRPr>
          </a:p>
          <a:p>
            <a:pPr indent="0" lvl="0" marL="0" rtl="0" algn="ctr">
              <a:spcBef>
                <a:spcPts val="0"/>
              </a:spcBef>
              <a:spcAft>
                <a:spcPts val="0"/>
              </a:spcAft>
              <a:buNone/>
            </a:pPr>
            <a:r>
              <a:t/>
            </a:r>
            <a:endParaRPr sz="1800">
              <a:solidFill>
                <a:schemeClr val="lt1"/>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51AB2A"/>
            </a:gs>
            <a:gs pos="100000">
              <a:srgbClr val="203E13"/>
            </a:gs>
          </a:gsLst>
          <a:lin ang="5400012" scaled="0"/>
        </a:gradFill>
      </p:bgPr>
    </p:bg>
    <p:spTree>
      <p:nvGrpSpPr>
        <p:cNvPr id="66" name="Shape 66"/>
        <p:cNvGrpSpPr/>
        <p:nvPr/>
      </p:nvGrpSpPr>
      <p:grpSpPr>
        <a:xfrm>
          <a:off x="0" y="0"/>
          <a:ext cx="0" cy="0"/>
          <a:chOff x="0" y="0"/>
          <a:chExt cx="0" cy="0"/>
        </a:xfrm>
      </p:grpSpPr>
      <p:sp>
        <p:nvSpPr>
          <p:cNvPr id="67" name="Google Shape;67;p14"/>
          <p:cNvSpPr txBox="1"/>
          <p:nvPr/>
        </p:nvSpPr>
        <p:spPr>
          <a:xfrm>
            <a:off x="11743" y="293575"/>
            <a:ext cx="9144000" cy="952500"/>
          </a:xfrm>
          <a:prstGeom prst="rect">
            <a:avLst/>
          </a:prstGeom>
          <a:noFill/>
          <a:ln>
            <a:noFill/>
          </a:ln>
        </p:spPr>
        <p:txBody>
          <a:bodyPr anchorCtr="0" anchor="t" bIns="91425" lIns="91425" spcFirstLastPara="1" rIns="91425" wrap="square" tIns="91425">
            <a:spAutoFit/>
          </a:bodyPr>
          <a:lstStyle/>
          <a:p>
            <a:pPr indent="0" lvl="0" marL="0" rtl="0" algn="ctr">
              <a:lnSpc>
                <a:spcPct val="137500"/>
              </a:lnSpc>
              <a:spcBef>
                <a:spcPts val="0"/>
              </a:spcBef>
              <a:spcAft>
                <a:spcPts val="0"/>
              </a:spcAft>
              <a:buNone/>
            </a:pPr>
            <a:r>
              <a:rPr b="1" lang="es-419" sz="2100">
                <a:solidFill>
                  <a:schemeClr val="lt1"/>
                </a:solidFill>
              </a:rPr>
              <a:t>Visualizaciones</a:t>
            </a:r>
            <a:r>
              <a:rPr b="1" lang="es-419" sz="2100">
                <a:solidFill>
                  <a:schemeClr val="lt1"/>
                </a:solidFill>
              </a:rPr>
              <a:t> Preliminares:</a:t>
            </a:r>
            <a:endParaRPr b="1" sz="2100">
              <a:solidFill>
                <a:schemeClr val="lt1"/>
              </a:solidFill>
            </a:endParaRPr>
          </a:p>
          <a:p>
            <a:pPr indent="457200" lvl="0" marL="0" rtl="0" algn="l">
              <a:lnSpc>
                <a:spcPct val="137500"/>
              </a:lnSpc>
              <a:spcBef>
                <a:spcPts val="0"/>
              </a:spcBef>
              <a:spcAft>
                <a:spcPts val="0"/>
              </a:spcAft>
              <a:buNone/>
            </a:pPr>
            <a:r>
              <a:rPr b="1" lang="es-419" sz="2100">
                <a:solidFill>
                  <a:schemeClr val="lt1"/>
                </a:solidFill>
              </a:rPr>
              <a:t>Pregunta 1:</a:t>
            </a:r>
            <a:endParaRPr b="1" sz="2100">
              <a:solidFill>
                <a:schemeClr val="lt1"/>
              </a:solidFill>
            </a:endParaRPr>
          </a:p>
        </p:txBody>
      </p:sp>
      <p:pic>
        <p:nvPicPr>
          <p:cNvPr id="68" name="Google Shape;68;p14" title="output.png"/>
          <p:cNvPicPr preferRelativeResize="0"/>
          <p:nvPr/>
        </p:nvPicPr>
        <p:blipFill>
          <a:blip r:embed="rId3">
            <a:alphaModFix/>
          </a:blip>
          <a:stretch>
            <a:fillRect/>
          </a:stretch>
        </p:blipFill>
        <p:spPr>
          <a:xfrm>
            <a:off x="3616650" y="1010950"/>
            <a:ext cx="5324375" cy="3890650"/>
          </a:xfrm>
          <a:prstGeom prst="rect">
            <a:avLst/>
          </a:prstGeom>
          <a:noFill/>
          <a:ln>
            <a:noFill/>
          </a:ln>
        </p:spPr>
      </p:pic>
      <p:sp>
        <p:nvSpPr>
          <p:cNvPr id="69" name="Google Shape;69;p14"/>
          <p:cNvSpPr txBox="1"/>
          <p:nvPr/>
        </p:nvSpPr>
        <p:spPr>
          <a:xfrm>
            <a:off x="260700" y="1695700"/>
            <a:ext cx="3018000" cy="2618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419" sz="1800">
                <a:solidFill>
                  <a:schemeClr val="lt1"/>
                </a:solidFill>
              </a:rPr>
              <a:t>Podemos notar en el histograma analizando la variable de Resultados de Partidos que existe una clara </a:t>
            </a:r>
            <a:r>
              <a:rPr lang="es-419" sz="1800">
                <a:solidFill>
                  <a:schemeClr val="lt1"/>
                </a:solidFill>
              </a:rPr>
              <a:t>inclinación</a:t>
            </a:r>
            <a:r>
              <a:rPr lang="es-419" sz="1800">
                <a:solidFill>
                  <a:schemeClr val="lt1"/>
                </a:solidFill>
              </a:rPr>
              <a:t> a favor del equipo local, esto nos permite intuir que si existe esa ventaja en la localía respecto a la victoria. </a:t>
            </a:r>
            <a:endParaRPr sz="1800">
              <a:solidFill>
                <a:schemeClr val="lt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51AB2A"/>
            </a:gs>
            <a:gs pos="100000">
              <a:srgbClr val="203E13"/>
            </a:gs>
          </a:gsLst>
          <a:lin ang="5400012" scaled="0"/>
        </a:gradFill>
      </p:bgPr>
    </p:bg>
    <p:spTree>
      <p:nvGrpSpPr>
        <p:cNvPr id="73" name="Shape 73"/>
        <p:cNvGrpSpPr/>
        <p:nvPr/>
      </p:nvGrpSpPr>
      <p:grpSpPr>
        <a:xfrm>
          <a:off x="0" y="0"/>
          <a:ext cx="0" cy="0"/>
          <a:chOff x="0" y="0"/>
          <a:chExt cx="0" cy="0"/>
        </a:xfrm>
      </p:grpSpPr>
      <p:sp>
        <p:nvSpPr>
          <p:cNvPr id="74" name="Google Shape;74;p15"/>
          <p:cNvSpPr txBox="1"/>
          <p:nvPr/>
        </p:nvSpPr>
        <p:spPr>
          <a:xfrm>
            <a:off x="11743" y="293575"/>
            <a:ext cx="9144000" cy="952500"/>
          </a:xfrm>
          <a:prstGeom prst="rect">
            <a:avLst/>
          </a:prstGeom>
          <a:noFill/>
          <a:ln>
            <a:noFill/>
          </a:ln>
        </p:spPr>
        <p:txBody>
          <a:bodyPr anchorCtr="0" anchor="t" bIns="91425" lIns="91425" spcFirstLastPara="1" rIns="91425" wrap="square" tIns="91425">
            <a:spAutoFit/>
          </a:bodyPr>
          <a:lstStyle/>
          <a:p>
            <a:pPr indent="0" lvl="0" marL="0" rtl="0" algn="ctr">
              <a:lnSpc>
                <a:spcPct val="137500"/>
              </a:lnSpc>
              <a:spcBef>
                <a:spcPts val="0"/>
              </a:spcBef>
              <a:spcAft>
                <a:spcPts val="0"/>
              </a:spcAft>
              <a:buNone/>
            </a:pPr>
            <a:r>
              <a:rPr b="1" lang="es-419" sz="2100">
                <a:solidFill>
                  <a:schemeClr val="lt1"/>
                </a:solidFill>
              </a:rPr>
              <a:t>Visualizaciones Preliminares:</a:t>
            </a:r>
            <a:endParaRPr b="1" sz="2100">
              <a:solidFill>
                <a:schemeClr val="lt1"/>
              </a:solidFill>
            </a:endParaRPr>
          </a:p>
          <a:p>
            <a:pPr indent="457200" lvl="0" marL="0" rtl="0" algn="l">
              <a:lnSpc>
                <a:spcPct val="137500"/>
              </a:lnSpc>
              <a:spcBef>
                <a:spcPts val="0"/>
              </a:spcBef>
              <a:spcAft>
                <a:spcPts val="0"/>
              </a:spcAft>
              <a:buNone/>
            </a:pPr>
            <a:r>
              <a:rPr b="1" lang="es-419" sz="2100">
                <a:solidFill>
                  <a:schemeClr val="lt1"/>
                </a:solidFill>
              </a:rPr>
              <a:t>Pregunta 2:</a:t>
            </a:r>
            <a:endParaRPr b="1" sz="2100">
              <a:solidFill>
                <a:schemeClr val="lt1"/>
              </a:solidFill>
            </a:endParaRPr>
          </a:p>
        </p:txBody>
      </p:sp>
      <p:pic>
        <p:nvPicPr>
          <p:cNvPr id="75" name="Google Shape;75;p15" title="output.png"/>
          <p:cNvPicPr preferRelativeResize="0"/>
          <p:nvPr/>
        </p:nvPicPr>
        <p:blipFill>
          <a:blip r:embed="rId3">
            <a:alphaModFix/>
          </a:blip>
          <a:stretch>
            <a:fillRect/>
          </a:stretch>
        </p:blipFill>
        <p:spPr>
          <a:xfrm>
            <a:off x="3936300" y="1093400"/>
            <a:ext cx="5002575" cy="3831676"/>
          </a:xfrm>
          <a:prstGeom prst="rect">
            <a:avLst/>
          </a:prstGeom>
          <a:noFill/>
          <a:ln>
            <a:noFill/>
          </a:ln>
        </p:spPr>
      </p:pic>
      <p:sp>
        <p:nvSpPr>
          <p:cNvPr id="76" name="Google Shape;76;p15"/>
          <p:cNvSpPr txBox="1"/>
          <p:nvPr/>
        </p:nvSpPr>
        <p:spPr>
          <a:xfrm>
            <a:off x="378125" y="1366900"/>
            <a:ext cx="3452400" cy="3487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419" sz="1800">
                <a:solidFill>
                  <a:schemeClr val="lt1"/>
                </a:solidFill>
              </a:rPr>
              <a:t>Tabla de contingencia que muestra la frecuencia conjunta de resultados a medio tiempo con resultado final , podemos notar que la diagonal donde se ubican los valor </a:t>
            </a:r>
            <a:r>
              <a:rPr lang="es-419" sz="1800">
                <a:solidFill>
                  <a:schemeClr val="lt1"/>
                </a:solidFill>
              </a:rPr>
              <a:t>más</a:t>
            </a:r>
            <a:r>
              <a:rPr lang="es-419" sz="1800">
                <a:solidFill>
                  <a:schemeClr val="lt1"/>
                </a:solidFill>
              </a:rPr>
              <a:t> altos por final es justamente la que representa que el resultado a medio tiempo y al final del partido fue el mismo. Esto nos da un indicio de dependencia.</a:t>
            </a:r>
            <a:endParaRPr sz="1800">
              <a:solidFill>
                <a:schemeClr val="lt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51AB2A"/>
            </a:gs>
            <a:gs pos="100000">
              <a:srgbClr val="203E13"/>
            </a:gs>
          </a:gsLst>
          <a:lin ang="5400012" scaled="0"/>
        </a:gradFill>
      </p:bgPr>
    </p:bg>
    <p:spTree>
      <p:nvGrpSpPr>
        <p:cNvPr id="80" name="Shape 80"/>
        <p:cNvGrpSpPr/>
        <p:nvPr/>
      </p:nvGrpSpPr>
      <p:grpSpPr>
        <a:xfrm>
          <a:off x="0" y="0"/>
          <a:ext cx="0" cy="0"/>
          <a:chOff x="0" y="0"/>
          <a:chExt cx="0" cy="0"/>
        </a:xfrm>
      </p:grpSpPr>
      <p:sp>
        <p:nvSpPr>
          <p:cNvPr id="81" name="Google Shape;81;p16"/>
          <p:cNvSpPr txBox="1"/>
          <p:nvPr/>
        </p:nvSpPr>
        <p:spPr>
          <a:xfrm>
            <a:off x="11743" y="293575"/>
            <a:ext cx="9144000" cy="952500"/>
          </a:xfrm>
          <a:prstGeom prst="rect">
            <a:avLst/>
          </a:prstGeom>
          <a:noFill/>
          <a:ln>
            <a:noFill/>
          </a:ln>
        </p:spPr>
        <p:txBody>
          <a:bodyPr anchorCtr="0" anchor="t" bIns="91425" lIns="91425" spcFirstLastPara="1" rIns="91425" wrap="square" tIns="91425">
            <a:spAutoFit/>
          </a:bodyPr>
          <a:lstStyle/>
          <a:p>
            <a:pPr indent="0" lvl="0" marL="0" rtl="0" algn="ctr">
              <a:lnSpc>
                <a:spcPct val="137500"/>
              </a:lnSpc>
              <a:spcBef>
                <a:spcPts val="0"/>
              </a:spcBef>
              <a:spcAft>
                <a:spcPts val="0"/>
              </a:spcAft>
              <a:buNone/>
            </a:pPr>
            <a:r>
              <a:rPr b="1" lang="es-419" sz="2100">
                <a:solidFill>
                  <a:schemeClr val="lt1"/>
                </a:solidFill>
              </a:rPr>
              <a:t>Visualizaciones Preliminares:</a:t>
            </a:r>
            <a:endParaRPr b="1" sz="2100">
              <a:solidFill>
                <a:schemeClr val="lt1"/>
              </a:solidFill>
            </a:endParaRPr>
          </a:p>
          <a:p>
            <a:pPr indent="457200" lvl="0" marL="0" rtl="0" algn="l">
              <a:lnSpc>
                <a:spcPct val="137500"/>
              </a:lnSpc>
              <a:spcBef>
                <a:spcPts val="0"/>
              </a:spcBef>
              <a:spcAft>
                <a:spcPts val="0"/>
              </a:spcAft>
              <a:buNone/>
            </a:pPr>
            <a:r>
              <a:rPr b="1" lang="es-419" sz="2100">
                <a:solidFill>
                  <a:schemeClr val="lt1"/>
                </a:solidFill>
              </a:rPr>
              <a:t>Pregunta 3:</a:t>
            </a:r>
            <a:endParaRPr b="1" sz="2100">
              <a:solidFill>
                <a:schemeClr val="lt1"/>
              </a:solidFill>
            </a:endParaRPr>
          </a:p>
        </p:txBody>
      </p:sp>
      <p:pic>
        <p:nvPicPr>
          <p:cNvPr id="82" name="Google Shape;82;p16" title="output.png"/>
          <p:cNvPicPr preferRelativeResize="0"/>
          <p:nvPr/>
        </p:nvPicPr>
        <p:blipFill>
          <a:blip r:embed="rId3">
            <a:alphaModFix/>
          </a:blip>
          <a:stretch>
            <a:fillRect/>
          </a:stretch>
        </p:blipFill>
        <p:spPr>
          <a:xfrm>
            <a:off x="3208225" y="858275"/>
            <a:ext cx="5789376" cy="4090301"/>
          </a:xfrm>
          <a:prstGeom prst="rect">
            <a:avLst/>
          </a:prstGeom>
          <a:noFill/>
          <a:ln>
            <a:noFill/>
          </a:ln>
        </p:spPr>
      </p:pic>
      <p:sp>
        <p:nvSpPr>
          <p:cNvPr id="83" name="Google Shape;83;p16"/>
          <p:cNvSpPr txBox="1"/>
          <p:nvPr/>
        </p:nvSpPr>
        <p:spPr>
          <a:xfrm>
            <a:off x="425100" y="1378650"/>
            <a:ext cx="2501400" cy="2642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419" sz="1800">
                <a:solidFill>
                  <a:schemeClr val="lt1"/>
                </a:solidFill>
              </a:rPr>
              <a:t>NO existen correlaciones altas entre nuestra variables a usar en la pregunta 3 que puedan afectar la </a:t>
            </a:r>
            <a:r>
              <a:rPr lang="es-419" sz="1800">
                <a:solidFill>
                  <a:schemeClr val="lt1"/>
                </a:solidFill>
              </a:rPr>
              <a:t>aplicación</a:t>
            </a:r>
            <a:r>
              <a:rPr lang="es-419" sz="1800">
                <a:solidFill>
                  <a:schemeClr val="lt1"/>
                </a:solidFill>
              </a:rPr>
              <a:t> de K-means para agrupar por estilos de juegos.</a:t>
            </a:r>
            <a:endParaRPr sz="1800">
              <a:solidFill>
                <a:schemeClr val="lt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51AB2A"/>
            </a:gs>
            <a:gs pos="100000">
              <a:srgbClr val="203E13"/>
            </a:gs>
          </a:gsLst>
          <a:lin ang="5400012" scaled="0"/>
        </a:gradFill>
      </p:bgPr>
    </p:bg>
    <p:spTree>
      <p:nvGrpSpPr>
        <p:cNvPr id="87" name="Shape 87"/>
        <p:cNvGrpSpPr/>
        <p:nvPr/>
      </p:nvGrpSpPr>
      <p:grpSpPr>
        <a:xfrm>
          <a:off x="0" y="0"/>
          <a:ext cx="0" cy="0"/>
          <a:chOff x="0" y="0"/>
          <a:chExt cx="0" cy="0"/>
        </a:xfrm>
      </p:grpSpPr>
      <p:sp>
        <p:nvSpPr>
          <p:cNvPr id="88" name="Google Shape;88;p17"/>
          <p:cNvSpPr txBox="1"/>
          <p:nvPr/>
        </p:nvSpPr>
        <p:spPr>
          <a:xfrm>
            <a:off x="518800" y="263500"/>
            <a:ext cx="8267400" cy="809700"/>
          </a:xfrm>
          <a:prstGeom prst="rect">
            <a:avLst/>
          </a:prstGeom>
          <a:noFill/>
          <a:ln>
            <a:noFill/>
          </a:ln>
        </p:spPr>
        <p:txBody>
          <a:bodyPr anchorCtr="0" anchor="t" bIns="91425" lIns="91425" spcFirstLastPara="1" rIns="91425" wrap="square" tIns="91425">
            <a:noAutofit/>
          </a:bodyPr>
          <a:lstStyle/>
          <a:p>
            <a:pPr indent="0" lvl="0" marL="0" rtl="0" algn="l">
              <a:lnSpc>
                <a:spcPct val="137500"/>
              </a:lnSpc>
              <a:spcBef>
                <a:spcPts val="0"/>
              </a:spcBef>
              <a:spcAft>
                <a:spcPts val="0"/>
              </a:spcAft>
              <a:buNone/>
            </a:pPr>
            <a:r>
              <a:rPr lang="es-419" sz="1700">
                <a:solidFill>
                  <a:srgbClr val="FFFFFF"/>
                </a:solidFill>
              </a:rPr>
              <a:t>Pregunta 1:</a:t>
            </a:r>
            <a:r>
              <a:rPr lang="es-419" sz="1700">
                <a:solidFill>
                  <a:srgbClr val="FFFFFF"/>
                </a:solidFill>
              </a:rPr>
              <a:t>¿</a:t>
            </a:r>
            <a:r>
              <a:rPr lang="es-419" sz="1800">
                <a:solidFill>
                  <a:schemeClr val="lt1"/>
                </a:solidFill>
              </a:rPr>
              <a:t>El equipo local gana con más frecuencia de lo que lo hace el visitante</a:t>
            </a:r>
            <a:r>
              <a:rPr lang="es-419" sz="1700">
                <a:solidFill>
                  <a:srgbClr val="FFFFFF"/>
                </a:solidFill>
              </a:rPr>
              <a:t>?</a:t>
            </a:r>
            <a:endParaRPr sz="1800">
              <a:solidFill>
                <a:schemeClr val="lt1"/>
              </a:solidFill>
            </a:endParaRPr>
          </a:p>
          <a:p>
            <a:pPr indent="0" lvl="0" marL="0" rtl="0" algn="l">
              <a:spcBef>
                <a:spcPts val="0"/>
              </a:spcBef>
              <a:spcAft>
                <a:spcPts val="0"/>
              </a:spcAft>
              <a:buNone/>
            </a:pPr>
            <a:r>
              <a:t/>
            </a:r>
            <a:endParaRPr sz="1800">
              <a:solidFill>
                <a:schemeClr val="dk2"/>
              </a:solidFill>
            </a:endParaRPr>
          </a:p>
          <a:p>
            <a:pPr indent="0" lvl="0" marL="0" rtl="0" algn="l">
              <a:spcBef>
                <a:spcPts val="0"/>
              </a:spcBef>
              <a:spcAft>
                <a:spcPts val="0"/>
              </a:spcAft>
              <a:buNone/>
            </a:pPr>
            <a:r>
              <a:t/>
            </a:r>
            <a:endParaRPr sz="1800">
              <a:solidFill>
                <a:schemeClr val="dk2"/>
              </a:solidFill>
            </a:endParaRPr>
          </a:p>
        </p:txBody>
      </p:sp>
      <p:sp>
        <p:nvSpPr>
          <p:cNvPr id="89" name="Google Shape;89;p17"/>
          <p:cNvSpPr txBox="1"/>
          <p:nvPr/>
        </p:nvSpPr>
        <p:spPr>
          <a:xfrm>
            <a:off x="378125" y="1155525"/>
            <a:ext cx="3170700" cy="809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419" sz="1600">
                <a:solidFill>
                  <a:schemeClr val="lt1"/>
                </a:solidFill>
              </a:rPr>
              <a:t>Como nos interesa solamente victorias, </a:t>
            </a:r>
            <a:r>
              <a:rPr lang="es-419" sz="1600">
                <a:solidFill>
                  <a:schemeClr val="lt1"/>
                </a:solidFill>
              </a:rPr>
              <a:t>obviamos</a:t>
            </a:r>
            <a:r>
              <a:rPr lang="es-419" sz="1600">
                <a:solidFill>
                  <a:schemeClr val="lt1"/>
                </a:solidFill>
              </a:rPr>
              <a:t> los empates ( FTR = D ).</a:t>
            </a:r>
            <a:endParaRPr sz="1600">
              <a:solidFill>
                <a:schemeClr val="lt1"/>
              </a:solidFill>
            </a:endParaRPr>
          </a:p>
        </p:txBody>
      </p:sp>
      <p:sp>
        <p:nvSpPr>
          <p:cNvPr id="90" name="Google Shape;90;p17"/>
          <p:cNvSpPr txBox="1"/>
          <p:nvPr/>
        </p:nvSpPr>
        <p:spPr>
          <a:xfrm>
            <a:off x="3677950" y="1073200"/>
            <a:ext cx="4674000" cy="1021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419" sz="1800">
                <a:solidFill>
                  <a:schemeClr val="lt1"/>
                </a:solidFill>
              </a:rPr>
              <a:t>Queremos verificar si la </a:t>
            </a:r>
            <a:r>
              <a:rPr lang="es-419" sz="1800">
                <a:solidFill>
                  <a:schemeClr val="lt1"/>
                </a:solidFill>
              </a:rPr>
              <a:t>proporción</a:t>
            </a:r>
            <a:r>
              <a:rPr lang="es-419" sz="1800">
                <a:solidFill>
                  <a:schemeClr val="lt1"/>
                </a:solidFill>
              </a:rPr>
              <a:t> de victorias locales (H) entre total de victorias (H+A) favorece justamente a los locales.</a:t>
            </a:r>
            <a:endParaRPr sz="1800">
              <a:solidFill>
                <a:schemeClr val="lt1"/>
              </a:solidFill>
            </a:endParaRPr>
          </a:p>
        </p:txBody>
      </p:sp>
      <p:sp>
        <p:nvSpPr>
          <p:cNvPr id="91" name="Google Shape;91;p17"/>
          <p:cNvSpPr txBox="1"/>
          <p:nvPr/>
        </p:nvSpPr>
        <p:spPr>
          <a:xfrm>
            <a:off x="2480175" y="2213550"/>
            <a:ext cx="3675600" cy="71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419" sz="1800">
                <a:solidFill>
                  <a:schemeClr val="lt1"/>
                </a:solidFill>
              </a:rPr>
              <a:t>Por ello utilizaremos prueba de </a:t>
            </a:r>
            <a:r>
              <a:rPr lang="es-419" sz="1800">
                <a:solidFill>
                  <a:schemeClr val="lt1"/>
                </a:solidFill>
              </a:rPr>
              <a:t>hipótesis</a:t>
            </a:r>
            <a:r>
              <a:rPr lang="es-419" sz="1800">
                <a:solidFill>
                  <a:schemeClr val="lt1"/>
                </a:solidFill>
              </a:rPr>
              <a:t> Z para una </a:t>
            </a:r>
            <a:r>
              <a:rPr lang="es-419" sz="1800">
                <a:solidFill>
                  <a:schemeClr val="lt1"/>
                </a:solidFill>
              </a:rPr>
              <a:t>proporción.</a:t>
            </a:r>
            <a:endParaRPr sz="1800">
              <a:solidFill>
                <a:schemeClr val="lt1"/>
              </a:solidFill>
            </a:endParaRPr>
          </a:p>
        </p:txBody>
      </p:sp>
      <p:sp>
        <p:nvSpPr>
          <p:cNvPr id="92" name="Google Shape;92;p17"/>
          <p:cNvSpPr txBox="1"/>
          <p:nvPr/>
        </p:nvSpPr>
        <p:spPr>
          <a:xfrm>
            <a:off x="589500" y="2999225"/>
            <a:ext cx="7327800" cy="2043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419">
                <a:solidFill>
                  <a:schemeClr val="lt1"/>
                </a:solidFill>
              </a:rPr>
              <a:t>Distribución de victorias:</a:t>
            </a:r>
            <a:endParaRPr>
              <a:solidFill>
                <a:schemeClr val="lt1"/>
              </a:solidFill>
            </a:endParaRPr>
          </a:p>
          <a:p>
            <a:pPr indent="0" lvl="0" marL="0" rtl="0" algn="l">
              <a:spcBef>
                <a:spcPts val="0"/>
              </a:spcBef>
              <a:spcAft>
                <a:spcPts val="0"/>
              </a:spcAft>
              <a:buNone/>
            </a:pPr>
            <a:r>
              <a:rPr lang="es-419">
                <a:solidFill>
                  <a:schemeClr val="lt1"/>
                </a:solidFill>
              </a:rPr>
              <a:t>FTR</a:t>
            </a:r>
            <a:endParaRPr>
              <a:solidFill>
                <a:schemeClr val="lt1"/>
              </a:solidFill>
            </a:endParaRPr>
          </a:p>
          <a:p>
            <a:pPr indent="0" lvl="0" marL="0" rtl="0" algn="l">
              <a:spcBef>
                <a:spcPts val="0"/>
              </a:spcBef>
              <a:spcAft>
                <a:spcPts val="0"/>
              </a:spcAft>
              <a:buNone/>
            </a:pPr>
            <a:r>
              <a:rPr lang="es-419">
                <a:solidFill>
                  <a:schemeClr val="lt1"/>
                </a:solidFill>
              </a:rPr>
              <a:t>H    3176   (ganan locales)</a:t>
            </a:r>
            <a:endParaRPr>
              <a:solidFill>
                <a:schemeClr val="lt1"/>
              </a:solidFill>
            </a:endParaRPr>
          </a:p>
          <a:p>
            <a:pPr indent="0" lvl="0" marL="0" rtl="0" algn="l">
              <a:spcBef>
                <a:spcPts val="0"/>
              </a:spcBef>
              <a:spcAft>
                <a:spcPts val="0"/>
              </a:spcAft>
              <a:buNone/>
            </a:pPr>
            <a:r>
              <a:rPr lang="es-419">
                <a:solidFill>
                  <a:schemeClr val="lt1"/>
                </a:solidFill>
              </a:rPr>
              <a:t>A    1913   (ganan visitantes)</a:t>
            </a:r>
            <a:endParaRPr>
              <a:solidFill>
                <a:schemeClr val="lt1"/>
              </a:solidFill>
            </a:endParaRPr>
          </a:p>
          <a:p>
            <a:pPr indent="0" lvl="0" marL="0" rtl="0" algn="l">
              <a:spcBef>
                <a:spcPts val="0"/>
              </a:spcBef>
              <a:spcAft>
                <a:spcPts val="0"/>
              </a:spcAft>
              <a:buNone/>
            </a:pPr>
            <a:r>
              <a:t/>
            </a:r>
            <a:endParaRPr>
              <a:solidFill>
                <a:schemeClr val="lt1"/>
              </a:solidFill>
            </a:endParaRPr>
          </a:p>
          <a:p>
            <a:pPr indent="0" lvl="0" marL="0" rtl="0" algn="l">
              <a:spcBef>
                <a:spcPts val="0"/>
              </a:spcBef>
              <a:spcAft>
                <a:spcPts val="0"/>
              </a:spcAft>
              <a:buNone/>
            </a:pPr>
            <a:r>
              <a:rPr lang="es-419">
                <a:solidFill>
                  <a:schemeClr val="lt1"/>
                </a:solidFill>
              </a:rPr>
              <a:t>Total de partidos decisivos (sin empates): 5089</a:t>
            </a:r>
            <a:endParaRPr>
              <a:solidFill>
                <a:schemeClr val="lt1"/>
              </a:solidFill>
            </a:endParaRPr>
          </a:p>
          <a:p>
            <a:pPr indent="0" lvl="0" marL="0" rtl="0" algn="l">
              <a:spcBef>
                <a:spcPts val="0"/>
              </a:spcBef>
              <a:spcAft>
                <a:spcPts val="0"/>
              </a:spcAft>
              <a:buNone/>
            </a:pPr>
            <a:r>
              <a:rPr lang="es-419">
                <a:solidFill>
                  <a:schemeClr val="lt1"/>
                </a:solidFill>
              </a:rPr>
              <a:t>Victorias Locales: 3176</a:t>
            </a:r>
            <a:endParaRPr>
              <a:solidFill>
                <a:schemeClr val="lt1"/>
              </a:solidFill>
            </a:endParaRPr>
          </a:p>
          <a:p>
            <a:pPr indent="0" lvl="0" marL="0" rtl="0" algn="l">
              <a:spcBef>
                <a:spcPts val="0"/>
              </a:spcBef>
              <a:spcAft>
                <a:spcPts val="0"/>
              </a:spcAft>
              <a:buNone/>
            </a:pPr>
            <a:r>
              <a:rPr lang="es-419">
                <a:solidFill>
                  <a:schemeClr val="lt1"/>
                </a:solidFill>
              </a:rPr>
              <a:t>Proporción observada de victorias locales:  0.6241</a:t>
            </a:r>
            <a:endParaRPr sz="2000">
              <a:solidFill>
                <a:schemeClr val="lt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51AB2A"/>
            </a:gs>
            <a:gs pos="100000">
              <a:srgbClr val="203E13"/>
            </a:gs>
          </a:gsLst>
          <a:lin ang="5400012" scaled="0"/>
        </a:gradFill>
      </p:bgPr>
    </p:bg>
    <p:spTree>
      <p:nvGrpSpPr>
        <p:cNvPr id="96" name="Shape 96"/>
        <p:cNvGrpSpPr/>
        <p:nvPr/>
      </p:nvGrpSpPr>
      <p:grpSpPr>
        <a:xfrm>
          <a:off x="0" y="0"/>
          <a:ext cx="0" cy="0"/>
          <a:chOff x="0" y="0"/>
          <a:chExt cx="0" cy="0"/>
        </a:xfrm>
      </p:grpSpPr>
      <p:sp>
        <p:nvSpPr>
          <p:cNvPr id="97" name="Google Shape;97;p18"/>
          <p:cNvSpPr txBox="1"/>
          <p:nvPr/>
        </p:nvSpPr>
        <p:spPr>
          <a:xfrm>
            <a:off x="0" y="0"/>
            <a:ext cx="9144000" cy="4604100"/>
          </a:xfrm>
          <a:prstGeom prst="rect">
            <a:avLst/>
          </a:prstGeom>
          <a:noFill/>
          <a:ln>
            <a:noFill/>
          </a:ln>
        </p:spPr>
        <p:txBody>
          <a:bodyPr anchorCtr="0" anchor="t" bIns="91425" lIns="91425" spcFirstLastPara="1" rIns="91425" wrap="square" tIns="91425">
            <a:spAutoFit/>
          </a:bodyPr>
          <a:lstStyle/>
          <a:p>
            <a:pPr indent="0" lvl="0" marL="0" rtl="0" algn="l">
              <a:lnSpc>
                <a:spcPct val="137500"/>
              </a:lnSpc>
              <a:spcBef>
                <a:spcPts val="0"/>
              </a:spcBef>
              <a:spcAft>
                <a:spcPts val="0"/>
              </a:spcAft>
              <a:buNone/>
            </a:pPr>
            <a:r>
              <a:rPr b="1" lang="es-419" sz="1900">
                <a:solidFill>
                  <a:schemeClr val="lt1"/>
                </a:solidFill>
              </a:rPr>
              <a:t> </a:t>
            </a:r>
            <a:r>
              <a:rPr lang="es-419" sz="1600">
                <a:solidFill>
                  <a:schemeClr val="lt1"/>
                </a:solidFill>
              </a:rPr>
              <a:t>Prueba de Hipótesis Z (Unilateral Derecha)</a:t>
            </a:r>
            <a:endParaRPr sz="1600">
              <a:solidFill>
                <a:schemeClr val="lt1"/>
              </a:solidFill>
            </a:endParaRPr>
          </a:p>
          <a:p>
            <a:pPr indent="0" lvl="0" marL="0" rtl="0" algn="l">
              <a:lnSpc>
                <a:spcPct val="137500"/>
              </a:lnSpc>
              <a:spcBef>
                <a:spcPts val="0"/>
              </a:spcBef>
              <a:spcAft>
                <a:spcPts val="0"/>
              </a:spcAft>
              <a:buClr>
                <a:schemeClr val="dk1"/>
              </a:buClr>
              <a:buSzPts val="1100"/>
              <a:buFont typeface="Arial"/>
              <a:buNone/>
            </a:pPr>
            <a:r>
              <a:t/>
            </a:r>
            <a:endParaRPr sz="1600">
              <a:solidFill>
                <a:schemeClr val="lt1"/>
              </a:solidFill>
            </a:endParaRPr>
          </a:p>
          <a:p>
            <a:pPr indent="0" lvl="0" marL="0" rtl="0" algn="l">
              <a:lnSpc>
                <a:spcPct val="137500"/>
              </a:lnSpc>
              <a:spcBef>
                <a:spcPts val="0"/>
              </a:spcBef>
              <a:spcAft>
                <a:spcPts val="0"/>
              </a:spcAft>
              <a:buClr>
                <a:schemeClr val="dk1"/>
              </a:buClr>
              <a:buSzPts val="1100"/>
              <a:buFont typeface="Arial"/>
              <a:buNone/>
            </a:pPr>
            <a:r>
              <a:rPr lang="es-419" sz="1600">
                <a:solidFill>
                  <a:schemeClr val="lt1"/>
                </a:solidFill>
              </a:rPr>
              <a:t>Queremos demostrar si la proporción de victorias locales (p) es significativamente mayor que la de victorias visitantes.</a:t>
            </a:r>
            <a:endParaRPr sz="1600">
              <a:solidFill>
                <a:schemeClr val="lt1"/>
              </a:solidFill>
            </a:endParaRPr>
          </a:p>
          <a:p>
            <a:pPr indent="0" lvl="0" marL="0" rtl="0" algn="l">
              <a:lnSpc>
                <a:spcPct val="137500"/>
              </a:lnSpc>
              <a:spcBef>
                <a:spcPts val="0"/>
              </a:spcBef>
              <a:spcAft>
                <a:spcPts val="0"/>
              </a:spcAft>
              <a:buClr>
                <a:schemeClr val="dk1"/>
              </a:buClr>
              <a:buSzPts val="1100"/>
              <a:buFont typeface="Arial"/>
              <a:buNone/>
            </a:pPr>
            <a:r>
              <a:rPr lang="es-419" sz="1600">
                <a:solidFill>
                  <a:schemeClr val="lt1"/>
                </a:solidFill>
              </a:rPr>
              <a:t>En un escenario neutral (sin ventaja), si ignoramos los empates, la probabilidad de ganar en casa debería ser del 50% (p₀ = 0.5).</a:t>
            </a:r>
            <a:endParaRPr sz="1600">
              <a:solidFill>
                <a:schemeClr val="lt1"/>
              </a:solidFill>
            </a:endParaRPr>
          </a:p>
          <a:p>
            <a:pPr indent="0" lvl="0" marL="0" rtl="0" algn="l">
              <a:lnSpc>
                <a:spcPct val="137500"/>
              </a:lnSpc>
              <a:spcBef>
                <a:spcPts val="0"/>
              </a:spcBef>
              <a:spcAft>
                <a:spcPts val="0"/>
              </a:spcAft>
              <a:buNone/>
            </a:pPr>
            <a:r>
              <a:t/>
            </a:r>
            <a:endParaRPr sz="1600">
              <a:solidFill>
                <a:schemeClr val="lt1"/>
              </a:solidFill>
            </a:endParaRPr>
          </a:p>
          <a:p>
            <a:pPr indent="0" lvl="0" marL="0" rtl="0" algn="l">
              <a:lnSpc>
                <a:spcPct val="137500"/>
              </a:lnSpc>
              <a:spcBef>
                <a:spcPts val="0"/>
              </a:spcBef>
              <a:spcAft>
                <a:spcPts val="0"/>
              </a:spcAft>
              <a:buClr>
                <a:schemeClr val="dk1"/>
              </a:buClr>
              <a:buSzPts val="1100"/>
              <a:buFont typeface="Arial"/>
              <a:buNone/>
            </a:pPr>
            <a:r>
              <a:rPr lang="es-419" sz="1600">
                <a:solidFill>
                  <a:schemeClr val="lt1"/>
                </a:solidFill>
              </a:rPr>
              <a:t>Formulación de Hipótesis:</a:t>
            </a:r>
            <a:endParaRPr sz="1600">
              <a:solidFill>
                <a:schemeClr val="lt1"/>
              </a:solidFill>
            </a:endParaRPr>
          </a:p>
          <a:p>
            <a:pPr indent="0" lvl="0" marL="0" rtl="0" algn="l">
              <a:lnSpc>
                <a:spcPct val="137500"/>
              </a:lnSpc>
              <a:spcBef>
                <a:spcPts val="0"/>
              </a:spcBef>
              <a:spcAft>
                <a:spcPts val="0"/>
              </a:spcAft>
              <a:buClr>
                <a:schemeClr val="dk1"/>
              </a:buClr>
              <a:buSzPts val="1100"/>
              <a:buFont typeface="Arial"/>
              <a:buNone/>
            </a:pPr>
            <a:r>
              <a:rPr lang="es-419" sz="1600">
                <a:solidFill>
                  <a:schemeClr val="lt1"/>
                </a:solidFill>
              </a:rPr>
              <a:t> Hipótesis Nula (H₀): p &lt;= 0.5 (No hay ventaja de local).</a:t>
            </a:r>
            <a:endParaRPr sz="1600">
              <a:solidFill>
                <a:schemeClr val="lt1"/>
              </a:solidFill>
            </a:endParaRPr>
          </a:p>
          <a:p>
            <a:pPr indent="0" lvl="0" marL="0" rtl="0" algn="l">
              <a:lnSpc>
                <a:spcPct val="137500"/>
              </a:lnSpc>
              <a:spcBef>
                <a:spcPts val="0"/>
              </a:spcBef>
              <a:spcAft>
                <a:spcPts val="0"/>
              </a:spcAft>
              <a:buClr>
                <a:schemeClr val="dk1"/>
              </a:buClr>
              <a:buSzPts val="1100"/>
              <a:buFont typeface="Arial"/>
              <a:buNone/>
            </a:pPr>
            <a:r>
              <a:rPr lang="es-419" sz="1600">
                <a:solidFill>
                  <a:schemeClr val="lt1"/>
                </a:solidFill>
              </a:rPr>
              <a:t> Hipótesis Alternativa (H₁):p &gt; 0.5 (Existe ventaja de local).</a:t>
            </a:r>
            <a:endParaRPr sz="1600">
              <a:solidFill>
                <a:schemeClr val="lt1"/>
              </a:solidFill>
            </a:endParaRPr>
          </a:p>
          <a:p>
            <a:pPr indent="0" lvl="0" marL="0" rtl="0" algn="l">
              <a:lnSpc>
                <a:spcPct val="137500"/>
              </a:lnSpc>
              <a:spcBef>
                <a:spcPts val="0"/>
              </a:spcBef>
              <a:spcAft>
                <a:spcPts val="0"/>
              </a:spcAft>
              <a:buClr>
                <a:schemeClr val="dk1"/>
              </a:buClr>
              <a:buSzPts val="1100"/>
              <a:buFont typeface="Arial"/>
              <a:buNone/>
            </a:pPr>
            <a:r>
              <a:t/>
            </a:r>
            <a:endParaRPr sz="1600">
              <a:solidFill>
                <a:schemeClr val="lt1"/>
              </a:solidFill>
            </a:endParaRPr>
          </a:p>
          <a:p>
            <a:pPr indent="0" lvl="0" marL="0" rtl="0" algn="l">
              <a:lnSpc>
                <a:spcPct val="137500"/>
              </a:lnSpc>
              <a:spcBef>
                <a:spcPts val="0"/>
              </a:spcBef>
              <a:spcAft>
                <a:spcPts val="0"/>
              </a:spcAft>
              <a:buClr>
                <a:schemeClr val="dk1"/>
              </a:buClr>
              <a:buSzPts val="1100"/>
              <a:buFont typeface="Arial"/>
              <a:buNone/>
            </a:pPr>
            <a:r>
              <a:rPr lang="es-419" sz="1600">
                <a:solidFill>
                  <a:schemeClr val="lt1"/>
                </a:solidFill>
              </a:rPr>
              <a:t>Nivel de significancia α = 0.05   por lo que nuestra región de rechazo será para Z &gt; 1.64 .</a:t>
            </a:r>
            <a:endParaRPr sz="1600">
              <a:solidFill>
                <a:schemeClr val="lt1"/>
              </a:solidFill>
            </a:endParaRPr>
          </a:p>
          <a:p>
            <a:pPr indent="0" lvl="0" marL="0" rtl="0" algn="l">
              <a:lnSpc>
                <a:spcPct val="137500"/>
              </a:lnSpc>
              <a:spcBef>
                <a:spcPts val="0"/>
              </a:spcBef>
              <a:spcAft>
                <a:spcPts val="0"/>
              </a:spcAft>
              <a:buNone/>
            </a:pPr>
            <a:r>
              <a:t/>
            </a:r>
            <a:endParaRPr b="1" sz="1900">
              <a:solidFill>
                <a:schemeClr val="lt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51AB2A"/>
            </a:gs>
            <a:gs pos="100000">
              <a:srgbClr val="203E13"/>
            </a:gs>
          </a:gsLst>
          <a:lin ang="5400012" scaled="0"/>
        </a:gradFill>
      </p:bgPr>
    </p:bg>
    <p:spTree>
      <p:nvGrpSpPr>
        <p:cNvPr id="101" name="Shape 101"/>
        <p:cNvGrpSpPr/>
        <p:nvPr/>
      </p:nvGrpSpPr>
      <p:grpSpPr>
        <a:xfrm>
          <a:off x="0" y="0"/>
          <a:ext cx="0" cy="0"/>
          <a:chOff x="0" y="0"/>
          <a:chExt cx="0" cy="0"/>
        </a:xfrm>
      </p:grpSpPr>
      <p:sp>
        <p:nvSpPr>
          <p:cNvPr id="102" name="Google Shape;102;p19"/>
          <p:cNvSpPr txBox="1"/>
          <p:nvPr/>
        </p:nvSpPr>
        <p:spPr>
          <a:xfrm>
            <a:off x="0" y="11850"/>
            <a:ext cx="9091500" cy="1108200"/>
          </a:xfrm>
          <a:prstGeom prst="rect">
            <a:avLst/>
          </a:prstGeom>
          <a:noFill/>
          <a:ln>
            <a:noFill/>
          </a:ln>
        </p:spPr>
        <p:txBody>
          <a:bodyPr anchorCtr="0" anchor="t" bIns="91425" lIns="91425" spcFirstLastPara="1" rIns="91425" wrap="square" tIns="91425">
            <a:spAutoFit/>
          </a:bodyPr>
          <a:lstStyle/>
          <a:p>
            <a:pPr indent="0" lvl="0" marL="0" rtl="0" algn="l">
              <a:lnSpc>
                <a:spcPct val="137500"/>
              </a:lnSpc>
              <a:spcBef>
                <a:spcPts val="0"/>
              </a:spcBef>
              <a:spcAft>
                <a:spcPts val="0"/>
              </a:spcAft>
              <a:buNone/>
            </a:pPr>
            <a:r>
              <a:rPr lang="es-419" sz="1600">
                <a:solidFill>
                  <a:schemeClr val="lt1"/>
                </a:solidFill>
              </a:rPr>
              <a:t>Obtenemos :</a:t>
            </a:r>
            <a:endParaRPr sz="1600">
              <a:solidFill>
                <a:schemeClr val="lt1"/>
              </a:solidFill>
            </a:endParaRPr>
          </a:p>
          <a:p>
            <a:pPr indent="457200" lvl="0" marL="0" rtl="0" algn="l">
              <a:lnSpc>
                <a:spcPct val="137500"/>
              </a:lnSpc>
              <a:spcBef>
                <a:spcPts val="0"/>
              </a:spcBef>
              <a:spcAft>
                <a:spcPts val="0"/>
              </a:spcAft>
              <a:buNone/>
            </a:pPr>
            <a:r>
              <a:rPr lang="es-419" sz="1600">
                <a:solidFill>
                  <a:schemeClr val="lt1"/>
                </a:solidFill>
              </a:rPr>
              <a:t>Estadístico Z = 18.2765</a:t>
            </a:r>
            <a:endParaRPr sz="1600">
              <a:solidFill>
                <a:schemeClr val="lt1"/>
              </a:solidFill>
            </a:endParaRPr>
          </a:p>
          <a:p>
            <a:pPr indent="457200" lvl="0" marL="0" rtl="0" algn="l">
              <a:lnSpc>
                <a:spcPct val="137500"/>
              </a:lnSpc>
              <a:spcBef>
                <a:spcPts val="0"/>
              </a:spcBef>
              <a:spcAft>
                <a:spcPts val="0"/>
              </a:spcAft>
              <a:buNone/>
            </a:pPr>
            <a:r>
              <a:rPr lang="es-419" sz="1600">
                <a:solidFill>
                  <a:schemeClr val="lt1"/>
                </a:solidFill>
              </a:rPr>
              <a:t>p-value = 6.3728e-75</a:t>
            </a:r>
            <a:endParaRPr b="1" sz="2000">
              <a:solidFill>
                <a:schemeClr val="lt1"/>
              </a:solidFill>
            </a:endParaRPr>
          </a:p>
        </p:txBody>
      </p:sp>
      <p:pic>
        <p:nvPicPr>
          <p:cNvPr id="103" name="Google Shape;103;p19" title="output.png"/>
          <p:cNvPicPr preferRelativeResize="0"/>
          <p:nvPr/>
        </p:nvPicPr>
        <p:blipFill>
          <a:blip r:embed="rId3">
            <a:alphaModFix/>
          </a:blip>
          <a:stretch>
            <a:fillRect/>
          </a:stretch>
        </p:blipFill>
        <p:spPr>
          <a:xfrm>
            <a:off x="3111675" y="426925"/>
            <a:ext cx="5791351" cy="4286775"/>
          </a:xfrm>
          <a:prstGeom prst="rect">
            <a:avLst/>
          </a:prstGeom>
          <a:noFill/>
          <a:ln>
            <a:noFill/>
          </a:ln>
        </p:spPr>
      </p:pic>
      <p:sp>
        <p:nvSpPr>
          <p:cNvPr id="104" name="Google Shape;104;p19"/>
          <p:cNvSpPr txBox="1"/>
          <p:nvPr/>
        </p:nvSpPr>
        <p:spPr>
          <a:xfrm>
            <a:off x="143275" y="1378650"/>
            <a:ext cx="2689200" cy="3182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419" sz="1800">
                <a:solidFill>
                  <a:schemeClr val="lt1"/>
                </a:solidFill>
              </a:rPr>
              <a:t>Como podemos ver Z cae en la </a:t>
            </a:r>
            <a:r>
              <a:rPr lang="es-419" sz="1800">
                <a:solidFill>
                  <a:schemeClr val="lt1"/>
                </a:solidFill>
              </a:rPr>
              <a:t>región</a:t>
            </a:r>
            <a:r>
              <a:rPr lang="es-419" sz="1800">
                <a:solidFill>
                  <a:schemeClr val="lt1"/>
                </a:solidFill>
              </a:rPr>
              <a:t> de rechazo y nuestro p-value es menor a 0.05 por lo que rechazamos la </a:t>
            </a:r>
            <a:r>
              <a:rPr lang="es-419" sz="1800">
                <a:solidFill>
                  <a:schemeClr val="lt1"/>
                </a:solidFill>
              </a:rPr>
              <a:t>hipótesis</a:t>
            </a:r>
            <a:r>
              <a:rPr lang="es-419" sz="1800">
                <a:solidFill>
                  <a:schemeClr val="lt1"/>
                </a:solidFill>
              </a:rPr>
              <a:t> nula y aceptamos que existe evidencia </a:t>
            </a:r>
            <a:r>
              <a:rPr lang="es-419" sz="1800">
                <a:solidFill>
                  <a:schemeClr val="lt1"/>
                </a:solidFill>
              </a:rPr>
              <a:t>estadística</a:t>
            </a:r>
            <a:r>
              <a:rPr lang="es-419" sz="1800">
                <a:solidFill>
                  <a:schemeClr val="lt1"/>
                </a:solidFill>
              </a:rPr>
              <a:t> para afirmar que jugar de local es una ventaja.</a:t>
            </a:r>
            <a:endParaRPr sz="1800">
              <a:solidFill>
                <a:schemeClr val="lt1"/>
              </a:solidFill>
            </a:endParaRPr>
          </a:p>
          <a:p>
            <a:pPr indent="0" lvl="0" marL="0" rtl="0" algn="l">
              <a:spcBef>
                <a:spcPts val="0"/>
              </a:spcBef>
              <a:spcAft>
                <a:spcPts val="0"/>
              </a:spcAft>
              <a:buNone/>
            </a:pPr>
            <a:r>
              <a:t/>
            </a:r>
            <a:endParaRPr sz="1800">
              <a:solidFill>
                <a:schemeClr val="lt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51AB2A"/>
            </a:gs>
            <a:gs pos="100000">
              <a:srgbClr val="203E13"/>
            </a:gs>
          </a:gsLst>
          <a:lin ang="5400012" scaled="0"/>
        </a:gradFill>
      </p:bgPr>
    </p:bg>
    <p:spTree>
      <p:nvGrpSpPr>
        <p:cNvPr id="108" name="Shape 108"/>
        <p:cNvGrpSpPr/>
        <p:nvPr/>
      </p:nvGrpSpPr>
      <p:grpSpPr>
        <a:xfrm>
          <a:off x="0" y="0"/>
          <a:ext cx="0" cy="0"/>
          <a:chOff x="0" y="0"/>
          <a:chExt cx="0" cy="0"/>
        </a:xfrm>
      </p:grpSpPr>
      <p:sp>
        <p:nvSpPr>
          <p:cNvPr id="109" name="Google Shape;109;p20"/>
          <p:cNvSpPr txBox="1"/>
          <p:nvPr/>
        </p:nvSpPr>
        <p:spPr>
          <a:xfrm>
            <a:off x="518800" y="263500"/>
            <a:ext cx="8267400" cy="563100"/>
          </a:xfrm>
          <a:prstGeom prst="rect">
            <a:avLst/>
          </a:prstGeom>
          <a:noFill/>
          <a:ln>
            <a:noFill/>
          </a:ln>
        </p:spPr>
        <p:txBody>
          <a:bodyPr anchorCtr="0" anchor="t" bIns="91425" lIns="91425" spcFirstLastPara="1" rIns="91425" wrap="square" tIns="91425">
            <a:noAutofit/>
          </a:bodyPr>
          <a:lstStyle/>
          <a:p>
            <a:pPr indent="0" lvl="0" marL="0" rtl="0" algn="l">
              <a:lnSpc>
                <a:spcPct val="137500"/>
              </a:lnSpc>
              <a:spcBef>
                <a:spcPts val="0"/>
              </a:spcBef>
              <a:spcAft>
                <a:spcPts val="0"/>
              </a:spcAft>
              <a:buNone/>
            </a:pPr>
            <a:r>
              <a:rPr lang="es-419" sz="1700">
                <a:solidFill>
                  <a:srgbClr val="FFFFFF"/>
                </a:solidFill>
              </a:rPr>
              <a:t>Pregunta 2: ¿</a:t>
            </a:r>
            <a:r>
              <a:rPr lang="es-419" sz="1800">
                <a:solidFill>
                  <a:schemeClr val="lt1"/>
                </a:solidFill>
              </a:rPr>
              <a:t>El resultado al descanso determina el resultado final del partido</a:t>
            </a:r>
            <a:r>
              <a:rPr lang="es-419" sz="1700">
                <a:solidFill>
                  <a:srgbClr val="FFFFFF"/>
                </a:solidFill>
              </a:rPr>
              <a:t>?</a:t>
            </a:r>
            <a:endParaRPr sz="1800">
              <a:solidFill>
                <a:schemeClr val="lt1"/>
              </a:solidFill>
            </a:endParaRPr>
          </a:p>
          <a:p>
            <a:pPr indent="0" lvl="0" marL="0" rtl="0" algn="l">
              <a:spcBef>
                <a:spcPts val="0"/>
              </a:spcBef>
              <a:spcAft>
                <a:spcPts val="0"/>
              </a:spcAft>
              <a:buNone/>
            </a:pPr>
            <a:r>
              <a:t/>
            </a:r>
            <a:endParaRPr sz="1800">
              <a:solidFill>
                <a:schemeClr val="dk2"/>
              </a:solidFill>
            </a:endParaRPr>
          </a:p>
          <a:p>
            <a:pPr indent="0" lvl="0" marL="0" rtl="0" algn="l">
              <a:spcBef>
                <a:spcPts val="0"/>
              </a:spcBef>
              <a:spcAft>
                <a:spcPts val="0"/>
              </a:spcAft>
              <a:buNone/>
            </a:pPr>
            <a:r>
              <a:t/>
            </a:r>
            <a:endParaRPr sz="1800">
              <a:solidFill>
                <a:schemeClr val="dk2"/>
              </a:solidFill>
            </a:endParaRPr>
          </a:p>
        </p:txBody>
      </p:sp>
      <p:sp>
        <p:nvSpPr>
          <p:cNvPr id="110" name="Google Shape;110;p20"/>
          <p:cNvSpPr txBox="1"/>
          <p:nvPr/>
        </p:nvSpPr>
        <p:spPr>
          <a:xfrm>
            <a:off x="143250" y="826600"/>
            <a:ext cx="3429000" cy="211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419" sz="1800">
                <a:solidFill>
                  <a:schemeClr val="lt1"/>
                </a:solidFill>
              </a:rPr>
              <a:t>Para esta pregunta usaremos un test de independencia Chi-Cuadrado (χ²) para ver si existe una dependencia </a:t>
            </a:r>
            <a:r>
              <a:rPr lang="es-419" sz="1800">
                <a:solidFill>
                  <a:schemeClr val="lt1"/>
                </a:solidFill>
              </a:rPr>
              <a:t>estadística</a:t>
            </a:r>
            <a:r>
              <a:rPr lang="es-419" sz="1800">
                <a:solidFill>
                  <a:schemeClr val="lt1"/>
                </a:solidFill>
              </a:rPr>
              <a:t> fuerte sobre como termina el primer tiempo y como termina el segundo</a:t>
            </a:r>
            <a:endParaRPr sz="1800">
              <a:solidFill>
                <a:schemeClr val="lt1"/>
              </a:solidFill>
            </a:endParaRPr>
          </a:p>
        </p:txBody>
      </p:sp>
      <p:sp>
        <p:nvSpPr>
          <p:cNvPr id="111" name="Google Shape;111;p20"/>
          <p:cNvSpPr txBox="1"/>
          <p:nvPr/>
        </p:nvSpPr>
        <p:spPr>
          <a:xfrm>
            <a:off x="336975" y="3029700"/>
            <a:ext cx="3540600" cy="2113800"/>
          </a:xfrm>
          <a:prstGeom prst="rect">
            <a:avLst/>
          </a:prstGeom>
          <a:noFill/>
          <a:ln>
            <a:noFill/>
          </a:ln>
        </p:spPr>
        <p:txBody>
          <a:bodyPr anchorCtr="0" anchor="t" bIns="91425" lIns="91425" spcFirstLastPara="1" rIns="91425" wrap="square" tIns="91425">
            <a:noAutofit/>
          </a:bodyPr>
          <a:lstStyle/>
          <a:p>
            <a:pPr indent="0" lvl="0" marL="0" rtl="0" algn="l">
              <a:lnSpc>
                <a:spcPct val="137500"/>
              </a:lnSpc>
              <a:spcBef>
                <a:spcPts val="0"/>
              </a:spcBef>
              <a:spcAft>
                <a:spcPts val="0"/>
              </a:spcAft>
              <a:buClr>
                <a:schemeClr val="dk1"/>
              </a:buClr>
              <a:buSzPts val="1100"/>
              <a:buFont typeface="Arial"/>
              <a:buNone/>
            </a:pPr>
            <a:r>
              <a:rPr lang="es-419" sz="1600">
                <a:solidFill>
                  <a:schemeClr val="lt1"/>
                </a:solidFill>
              </a:rPr>
              <a:t>Variables a utilizar:</a:t>
            </a:r>
            <a:endParaRPr sz="1600">
              <a:solidFill>
                <a:schemeClr val="lt1"/>
              </a:solidFill>
            </a:endParaRPr>
          </a:p>
          <a:p>
            <a:pPr indent="0" lvl="0" marL="0" rtl="0" algn="l">
              <a:lnSpc>
                <a:spcPct val="137500"/>
              </a:lnSpc>
              <a:spcBef>
                <a:spcPts val="0"/>
              </a:spcBef>
              <a:spcAft>
                <a:spcPts val="0"/>
              </a:spcAft>
              <a:buClr>
                <a:schemeClr val="dk1"/>
              </a:buClr>
              <a:buSzPts val="1100"/>
              <a:buFont typeface="Arial"/>
              <a:buNone/>
            </a:pPr>
            <a:r>
              <a:rPr lang="es-419" sz="1600">
                <a:solidFill>
                  <a:schemeClr val="lt1"/>
                </a:solidFill>
              </a:rPr>
              <a:t> HTR (Half Time Result): Resultado al medio tiempo (H=Local, D=Empate, A=Visitante).</a:t>
            </a:r>
            <a:endParaRPr sz="1600">
              <a:solidFill>
                <a:schemeClr val="lt1"/>
              </a:solidFill>
            </a:endParaRPr>
          </a:p>
          <a:p>
            <a:pPr indent="0" lvl="0" marL="0" rtl="0" algn="l">
              <a:lnSpc>
                <a:spcPct val="137500"/>
              </a:lnSpc>
              <a:spcBef>
                <a:spcPts val="0"/>
              </a:spcBef>
              <a:spcAft>
                <a:spcPts val="0"/>
              </a:spcAft>
              <a:buClr>
                <a:schemeClr val="dk1"/>
              </a:buClr>
              <a:buSzPts val="1100"/>
              <a:buFont typeface="Arial"/>
              <a:buNone/>
            </a:pPr>
            <a:r>
              <a:rPr lang="es-419" sz="1600">
                <a:solidFill>
                  <a:schemeClr val="lt1"/>
                </a:solidFill>
              </a:rPr>
              <a:t>FTR (Full Time Result): Resultado al final del partido.</a:t>
            </a:r>
            <a:endParaRPr sz="1600">
              <a:solidFill>
                <a:schemeClr val="lt1"/>
              </a:solidFill>
            </a:endParaRPr>
          </a:p>
          <a:p>
            <a:pPr indent="0" lvl="0" marL="0" rtl="0" algn="l">
              <a:spcBef>
                <a:spcPts val="0"/>
              </a:spcBef>
              <a:spcAft>
                <a:spcPts val="0"/>
              </a:spcAft>
              <a:buNone/>
            </a:pPr>
            <a:r>
              <a:t/>
            </a:r>
            <a:endParaRPr sz="1800">
              <a:solidFill>
                <a:schemeClr val="dk2"/>
              </a:solidFill>
            </a:endParaRPr>
          </a:p>
        </p:txBody>
      </p:sp>
      <p:pic>
        <p:nvPicPr>
          <p:cNvPr id="112" name="Google Shape;112;p20" title="output.png"/>
          <p:cNvPicPr preferRelativeResize="0"/>
          <p:nvPr/>
        </p:nvPicPr>
        <p:blipFill>
          <a:blip r:embed="rId3">
            <a:alphaModFix/>
          </a:blip>
          <a:stretch>
            <a:fillRect/>
          </a:stretch>
        </p:blipFill>
        <p:spPr>
          <a:xfrm>
            <a:off x="4053725" y="1119925"/>
            <a:ext cx="4961624" cy="3875600"/>
          </a:xfrm>
          <a:prstGeom prst="rect">
            <a:avLst/>
          </a:prstGeom>
          <a:noFill/>
          <a:ln>
            <a:noFill/>
          </a:ln>
        </p:spPr>
      </p:pic>
      <p:sp>
        <p:nvSpPr>
          <p:cNvPr id="113" name="Google Shape;113;p20"/>
          <p:cNvSpPr txBox="1"/>
          <p:nvPr/>
        </p:nvSpPr>
        <p:spPr>
          <a:xfrm>
            <a:off x="5322000" y="674050"/>
            <a:ext cx="3041400" cy="24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419" sz="1800">
                <a:solidFill>
                  <a:schemeClr val="lt1"/>
                </a:solidFill>
              </a:rPr>
              <a:t>Tabla de Contingencia</a:t>
            </a:r>
            <a:endParaRPr sz="1800">
              <a:solidFill>
                <a:schemeClr val="lt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51AB2A"/>
            </a:gs>
            <a:gs pos="100000">
              <a:srgbClr val="203E13"/>
            </a:gs>
          </a:gsLst>
          <a:lin ang="5400012" scaled="0"/>
        </a:gradFill>
      </p:bgPr>
    </p:bg>
    <p:spTree>
      <p:nvGrpSpPr>
        <p:cNvPr id="117" name="Shape 117"/>
        <p:cNvGrpSpPr/>
        <p:nvPr/>
      </p:nvGrpSpPr>
      <p:grpSpPr>
        <a:xfrm>
          <a:off x="0" y="0"/>
          <a:ext cx="0" cy="0"/>
          <a:chOff x="0" y="0"/>
          <a:chExt cx="0" cy="0"/>
        </a:xfrm>
      </p:grpSpPr>
      <p:sp>
        <p:nvSpPr>
          <p:cNvPr id="118" name="Google Shape;118;p21"/>
          <p:cNvSpPr txBox="1"/>
          <p:nvPr/>
        </p:nvSpPr>
        <p:spPr>
          <a:xfrm>
            <a:off x="0" y="140900"/>
            <a:ext cx="9144000" cy="4706100"/>
          </a:xfrm>
          <a:prstGeom prst="rect">
            <a:avLst/>
          </a:prstGeom>
          <a:noFill/>
          <a:ln>
            <a:noFill/>
          </a:ln>
        </p:spPr>
        <p:txBody>
          <a:bodyPr anchorCtr="0" anchor="t" bIns="91425" lIns="91425" spcFirstLastPara="1" rIns="91425" wrap="square" tIns="91425">
            <a:spAutoFit/>
          </a:bodyPr>
          <a:lstStyle/>
          <a:p>
            <a:pPr indent="0" lvl="0" marL="0" rtl="0" algn="l">
              <a:lnSpc>
                <a:spcPct val="137500"/>
              </a:lnSpc>
              <a:spcBef>
                <a:spcPts val="0"/>
              </a:spcBef>
              <a:spcAft>
                <a:spcPts val="0"/>
              </a:spcAft>
              <a:buClr>
                <a:schemeClr val="dk1"/>
              </a:buClr>
              <a:buSzPts val="1100"/>
              <a:buFont typeface="Arial"/>
              <a:buNone/>
            </a:pPr>
            <a:r>
              <a:rPr lang="es-419" sz="1700">
                <a:solidFill>
                  <a:schemeClr val="lt1"/>
                </a:solidFill>
              </a:rPr>
              <a:t>Prueba de Hipótesis (Chi-Cuadrado)</a:t>
            </a:r>
            <a:endParaRPr sz="1700">
              <a:solidFill>
                <a:schemeClr val="lt1"/>
              </a:solidFill>
            </a:endParaRPr>
          </a:p>
          <a:p>
            <a:pPr indent="0" lvl="0" marL="0" rtl="0" algn="l">
              <a:lnSpc>
                <a:spcPct val="137500"/>
              </a:lnSpc>
              <a:spcBef>
                <a:spcPts val="0"/>
              </a:spcBef>
              <a:spcAft>
                <a:spcPts val="0"/>
              </a:spcAft>
              <a:buClr>
                <a:schemeClr val="dk1"/>
              </a:buClr>
              <a:buSzPts val="1100"/>
              <a:buFont typeface="Arial"/>
              <a:buNone/>
            </a:pPr>
            <a:r>
              <a:rPr lang="es-419" sz="1700">
                <a:solidFill>
                  <a:schemeClr val="lt1"/>
                </a:solidFill>
              </a:rPr>
              <a:t>Evaluaremos si existe una relación estadísticamente significativa entre el resultado al descanso y el final.</a:t>
            </a:r>
            <a:endParaRPr sz="1700">
              <a:solidFill>
                <a:schemeClr val="lt1"/>
              </a:solidFill>
            </a:endParaRPr>
          </a:p>
          <a:p>
            <a:pPr indent="0" lvl="0" marL="0" rtl="0" algn="l">
              <a:lnSpc>
                <a:spcPct val="137500"/>
              </a:lnSpc>
              <a:spcBef>
                <a:spcPts val="0"/>
              </a:spcBef>
              <a:spcAft>
                <a:spcPts val="0"/>
              </a:spcAft>
              <a:buClr>
                <a:schemeClr val="dk1"/>
              </a:buClr>
              <a:buSzPts val="1100"/>
              <a:buFont typeface="Arial"/>
              <a:buNone/>
            </a:pPr>
            <a:r>
              <a:rPr lang="es-419" sz="1700">
                <a:solidFill>
                  <a:schemeClr val="lt1"/>
                </a:solidFill>
              </a:rPr>
              <a:t>Hipótesis:</a:t>
            </a:r>
            <a:endParaRPr sz="1700">
              <a:solidFill>
                <a:schemeClr val="lt1"/>
              </a:solidFill>
            </a:endParaRPr>
          </a:p>
          <a:p>
            <a:pPr indent="0" lvl="0" marL="0" rtl="0" algn="l">
              <a:lnSpc>
                <a:spcPct val="137500"/>
              </a:lnSpc>
              <a:spcBef>
                <a:spcPts val="0"/>
              </a:spcBef>
              <a:spcAft>
                <a:spcPts val="0"/>
              </a:spcAft>
              <a:buClr>
                <a:schemeClr val="dk1"/>
              </a:buClr>
              <a:buSzPts val="1100"/>
              <a:buFont typeface="Arial"/>
              <a:buNone/>
            </a:pPr>
            <a:r>
              <a:rPr lang="es-419" sz="1700">
                <a:solidFill>
                  <a:schemeClr val="lt1"/>
                </a:solidFill>
              </a:rPr>
              <a:t>  </a:t>
            </a:r>
            <a:r>
              <a:rPr lang="es-419" sz="1600">
                <a:solidFill>
                  <a:schemeClr val="lt1"/>
                </a:solidFill>
              </a:rPr>
              <a:t>H₀</a:t>
            </a:r>
            <a:r>
              <a:rPr lang="es-419" sz="1700">
                <a:solidFill>
                  <a:schemeClr val="lt1"/>
                </a:solidFill>
              </a:rPr>
              <a:t> (Nula): El resultado al descanso y el final son Independientes (lo que pasa en el 1er tiempo no influye en el resultado final).</a:t>
            </a:r>
            <a:endParaRPr sz="1700">
              <a:solidFill>
                <a:schemeClr val="lt1"/>
              </a:solidFill>
            </a:endParaRPr>
          </a:p>
          <a:p>
            <a:pPr indent="0" lvl="0" marL="0" rtl="0" algn="l">
              <a:lnSpc>
                <a:spcPct val="137500"/>
              </a:lnSpc>
              <a:spcBef>
                <a:spcPts val="0"/>
              </a:spcBef>
              <a:spcAft>
                <a:spcPts val="0"/>
              </a:spcAft>
              <a:buClr>
                <a:schemeClr val="dk1"/>
              </a:buClr>
              <a:buSzPts val="1100"/>
              <a:buFont typeface="Arial"/>
              <a:buNone/>
            </a:pPr>
            <a:r>
              <a:rPr lang="es-419" sz="1700">
                <a:solidFill>
                  <a:schemeClr val="lt1"/>
                </a:solidFill>
              </a:rPr>
              <a:t>  </a:t>
            </a:r>
            <a:r>
              <a:rPr lang="es-419" sz="1600">
                <a:solidFill>
                  <a:schemeClr val="lt1"/>
                </a:solidFill>
              </a:rPr>
              <a:t>H₁</a:t>
            </a:r>
            <a:r>
              <a:rPr lang="es-419" sz="1700">
                <a:solidFill>
                  <a:schemeClr val="lt1"/>
                </a:solidFill>
              </a:rPr>
              <a:t> (Alternativa): El resultado al descanso y el final son Dependientes (están relacionados).</a:t>
            </a:r>
            <a:endParaRPr sz="1700">
              <a:solidFill>
                <a:schemeClr val="lt1"/>
              </a:solidFill>
            </a:endParaRPr>
          </a:p>
          <a:p>
            <a:pPr indent="0" lvl="0" marL="0" rtl="0" algn="l">
              <a:lnSpc>
                <a:spcPct val="137500"/>
              </a:lnSpc>
              <a:spcBef>
                <a:spcPts val="0"/>
              </a:spcBef>
              <a:spcAft>
                <a:spcPts val="0"/>
              </a:spcAft>
              <a:buNone/>
            </a:pPr>
            <a:r>
              <a:rPr b="1" lang="es-419" sz="2100">
                <a:solidFill>
                  <a:schemeClr val="lt1"/>
                </a:solidFill>
              </a:rPr>
              <a:t>    </a:t>
            </a:r>
            <a:r>
              <a:rPr lang="es-419" sz="1700">
                <a:solidFill>
                  <a:schemeClr val="lt1"/>
                </a:solidFill>
              </a:rPr>
              <a:t>Obtenemos:</a:t>
            </a:r>
            <a:endParaRPr sz="1700">
              <a:solidFill>
                <a:schemeClr val="lt1"/>
              </a:solidFill>
            </a:endParaRPr>
          </a:p>
          <a:p>
            <a:pPr indent="0" lvl="0" marL="0" rtl="0" algn="l">
              <a:lnSpc>
                <a:spcPct val="137500"/>
              </a:lnSpc>
              <a:spcBef>
                <a:spcPts val="0"/>
              </a:spcBef>
              <a:spcAft>
                <a:spcPts val="0"/>
              </a:spcAft>
              <a:buNone/>
            </a:pPr>
            <a:r>
              <a:rPr lang="es-419" sz="1700">
                <a:solidFill>
                  <a:schemeClr val="lt1"/>
                </a:solidFill>
              </a:rPr>
              <a:t>    </a:t>
            </a:r>
            <a:r>
              <a:rPr lang="es-419">
                <a:solidFill>
                  <a:schemeClr val="lt1"/>
                </a:solidFill>
              </a:rPr>
              <a:t>Estadístico Chi-Cuadrado: 2852.21</a:t>
            </a:r>
            <a:endParaRPr>
              <a:solidFill>
                <a:schemeClr val="lt1"/>
              </a:solidFill>
            </a:endParaRPr>
          </a:p>
          <a:p>
            <a:pPr indent="0" lvl="0" marL="0" rtl="0" algn="l">
              <a:lnSpc>
                <a:spcPct val="137500"/>
              </a:lnSpc>
              <a:spcBef>
                <a:spcPts val="0"/>
              </a:spcBef>
              <a:spcAft>
                <a:spcPts val="0"/>
              </a:spcAft>
              <a:buNone/>
            </a:pPr>
            <a:r>
              <a:rPr lang="es-419">
                <a:solidFill>
                  <a:schemeClr val="lt1"/>
                </a:solidFill>
              </a:rPr>
              <a:t>     p-Value: 0.0000…     </a:t>
            </a:r>
            <a:r>
              <a:rPr lang="es-419" sz="1500">
                <a:solidFill>
                  <a:schemeClr val="lt1"/>
                </a:solidFill>
              </a:rPr>
              <a:t> es menor que 0.05 por lo que rechazamos la </a:t>
            </a:r>
            <a:r>
              <a:rPr lang="es-419" sz="1500">
                <a:solidFill>
                  <a:schemeClr val="lt1"/>
                </a:solidFill>
              </a:rPr>
              <a:t>hipótesis</a:t>
            </a:r>
            <a:r>
              <a:rPr lang="es-419" sz="1500">
                <a:solidFill>
                  <a:schemeClr val="lt1"/>
                </a:solidFill>
              </a:rPr>
              <a:t> nula.</a:t>
            </a:r>
            <a:endParaRPr sz="1500">
              <a:solidFill>
                <a:schemeClr val="lt1"/>
              </a:solidFill>
            </a:endParaRPr>
          </a:p>
          <a:p>
            <a:pPr indent="0" lvl="0" marL="1828800" rtl="0" algn="l">
              <a:lnSpc>
                <a:spcPct val="137500"/>
              </a:lnSpc>
              <a:spcBef>
                <a:spcPts val="0"/>
              </a:spcBef>
              <a:spcAft>
                <a:spcPts val="0"/>
              </a:spcAft>
              <a:buNone/>
            </a:pPr>
            <a:r>
              <a:rPr lang="es-419">
                <a:solidFill>
                  <a:schemeClr val="lt1"/>
                </a:solidFill>
              </a:rPr>
              <a:t>   Existe una DEPENDENCIA ESTADÍSTICAMENTE SIGNIFICATIVA.</a:t>
            </a:r>
            <a:endParaRPr>
              <a:solidFill>
                <a:schemeClr val="lt1"/>
              </a:solidFill>
            </a:endParaRPr>
          </a:p>
          <a:p>
            <a:pPr indent="457200" lvl="0" marL="1371600" rtl="0" algn="l">
              <a:lnSpc>
                <a:spcPct val="137500"/>
              </a:lnSpc>
              <a:spcBef>
                <a:spcPts val="0"/>
              </a:spcBef>
              <a:spcAft>
                <a:spcPts val="0"/>
              </a:spcAft>
              <a:buNone/>
            </a:pPr>
            <a:r>
              <a:rPr lang="es-419">
                <a:solidFill>
                  <a:schemeClr val="lt1"/>
                </a:solidFill>
              </a:rPr>
              <a:t>    El resultado al descanso predice fuertemente el resultado final.</a:t>
            </a:r>
            <a:r>
              <a:rPr lang="es-419" sz="1600">
                <a:solidFill>
                  <a:schemeClr val="lt1"/>
                </a:solidFill>
              </a:rPr>
              <a:t> </a:t>
            </a:r>
            <a:endParaRPr sz="2100">
              <a:solidFill>
                <a:schemeClr val="lt1"/>
              </a:solidFill>
            </a:endParaRPr>
          </a:p>
          <a:p>
            <a:pPr indent="0" lvl="0" marL="0" rtl="0" algn="l">
              <a:lnSpc>
                <a:spcPct val="137500"/>
              </a:lnSpc>
              <a:spcBef>
                <a:spcPts val="0"/>
              </a:spcBef>
              <a:spcAft>
                <a:spcPts val="0"/>
              </a:spcAft>
              <a:buNone/>
            </a:pPr>
            <a:r>
              <a:t/>
            </a:r>
            <a:endParaRPr sz="1600">
              <a:solidFill>
                <a:schemeClr val="lt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51AB2A"/>
            </a:gs>
            <a:gs pos="100000">
              <a:srgbClr val="203E13"/>
            </a:gs>
          </a:gsLst>
          <a:lin ang="5400012" scaled="0"/>
        </a:gradFill>
      </p:bgPr>
    </p:bg>
    <p:spTree>
      <p:nvGrpSpPr>
        <p:cNvPr id="122" name="Shape 122"/>
        <p:cNvGrpSpPr/>
        <p:nvPr/>
      </p:nvGrpSpPr>
      <p:grpSpPr>
        <a:xfrm>
          <a:off x="0" y="0"/>
          <a:ext cx="0" cy="0"/>
          <a:chOff x="0" y="0"/>
          <a:chExt cx="0" cy="0"/>
        </a:xfrm>
      </p:grpSpPr>
      <p:sp>
        <p:nvSpPr>
          <p:cNvPr id="123" name="Google Shape;123;p22"/>
          <p:cNvSpPr txBox="1"/>
          <p:nvPr/>
        </p:nvSpPr>
        <p:spPr>
          <a:xfrm>
            <a:off x="0" y="0"/>
            <a:ext cx="9144000" cy="2197200"/>
          </a:xfrm>
          <a:prstGeom prst="rect">
            <a:avLst/>
          </a:prstGeom>
          <a:noFill/>
          <a:ln>
            <a:noFill/>
          </a:ln>
        </p:spPr>
        <p:txBody>
          <a:bodyPr anchorCtr="0" anchor="t" bIns="91425" lIns="91425" spcFirstLastPara="1" rIns="91425" wrap="square" tIns="91425">
            <a:spAutoFit/>
          </a:bodyPr>
          <a:lstStyle/>
          <a:p>
            <a:pPr indent="0" lvl="0" marL="0" rtl="0" algn="l">
              <a:lnSpc>
                <a:spcPct val="137500"/>
              </a:lnSpc>
              <a:spcBef>
                <a:spcPts val="0"/>
              </a:spcBef>
              <a:spcAft>
                <a:spcPts val="0"/>
              </a:spcAft>
              <a:buNone/>
            </a:pPr>
            <a:r>
              <a:rPr lang="es-419" sz="1200">
                <a:solidFill>
                  <a:schemeClr val="lt1"/>
                </a:solidFill>
              </a:rPr>
              <a:t> </a:t>
            </a:r>
            <a:r>
              <a:rPr b="1" lang="es-419" sz="1800">
                <a:solidFill>
                  <a:schemeClr val="lt1"/>
                </a:solidFill>
              </a:rPr>
              <a:t>EXTRA:</a:t>
            </a:r>
            <a:endParaRPr b="1" sz="1800">
              <a:solidFill>
                <a:schemeClr val="lt1"/>
              </a:solidFill>
            </a:endParaRPr>
          </a:p>
          <a:p>
            <a:pPr indent="0" lvl="0" marL="0" rtl="0" algn="l">
              <a:lnSpc>
                <a:spcPct val="137500"/>
              </a:lnSpc>
              <a:spcBef>
                <a:spcPts val="0"/>
              </a:spcBef>
              <a:spcAft>
                <a:spcPts val="0"/>
              </a:spcAft>
              <a:buClr>
                <a:schemeClr val="dk1"/>
              </a:buClr>
              <a:buSzPts val="1100"/>
              <a:buFont typeface="Arial"/>
              <a:buNone/>
            </a:pPr>
            <a:r>
              <a:rPr lang="es-419" sz="1600">
                <a:solidFill>
                  <a:schemeClr val="lt1"/>
                </a:solidFill>
              </a:rPr>
              <a:t>El P-Value nos dice que hay relación, pero no nos dice cómo es.</a:t>
            </a:r>
            <a:endParaRPr sz="1600">
              <a:solidFill>
                <a:schemeClr val="lt1"/>
              </a:solidFill>
            </a:endParaRPr>
          </a:p>
          <a:p>
            <a:pPr indent="0" lvl="0" marL="0" rtl="0" algn="l">
              <a:lnSpc>
                <a:spcPct val="137500"/>
              </a:lnSpc>
              <a:spcBef>
                <a:spcPts val="0"/>
              </a:spcBef>
              <a:spcAft>
                <a:spcPts val="0"/>
              </a:spcAft>
              <a:buClr>
                <a:schemeClr val="dk1"/>
              </a:buClr>
              <a:buSzPts val="1100"/>
              <a:buFont typeface="Arial"/>
              <a:buNone/>
            </a:pPr>
            <a:r>
              <a:rPr lang="es-419" sz="1600">
                <a:solidFill>
                  <a:schemeClr val="lt1"/>
                </a:solidFill>
              </a:rPr>
              <a:t>Calcularemos la probabilidad de cada resultado final dado un resultado al descanso.</a:t>
            </a:r>
            <a:endParaRPr sz="1600">
              <a:solidFill>
                <a:schemeClr val="lt1"/>
              </a:solidFill>
            </a:endParaRPr>
          </a:p>
          <a:p>
            <a:pPr indent="0" lvl="0" marL="0" rtl="0" algn="l">
              <a:lnSpc>
                <a:spcPct val="137500"/>
              </a:lnSpc>
              <a:spcBef>
                <a:spcPts val="0"/>
              </a:spcBef>
              <a:spcAft>
                <a:spcPts val="0"/>
              </a:spcAft>
              <a:buClr>
                <a:schemeClr val="dk1"/>
              </a:buClr>
              <a:buSzPts val="1100"/>
              <a:buFont typeface="Arial"/>
              <a:buNone/>
            </a:pPr>
            <a:r>
              <a:rPr lang="es-419" sz="1600">
                <a:solidFill>
                  <a:schemeClr val="lt1"/>
                </a:solidFill>
              </a:rPr>
              <a:t>**Pregunta clave:** Si un equipo va ganando al descanso, ¿qué probabilidad tiene de mantener la victoria?</a:t>
            </a:r>
            <a:endParaRPr sz="1600">
              <a:solidFill>
                <a:schemeClr val="lt1"/>
              </a:solidFill>
            </a:endParaRPr>
          </a:p>
          <a:p>
            <a:pPr indent="0" lvl="0" marL="0" rtl="0" algn="l">
              <a:lnSpc>
                <a:spcPct val="137500"/>
              </a:lnSpc>
              <a:spcBef>
                <a:spcPts val="0"/>
              </a:spcBef>
              <a:spcAft>
                <a:spcPts val="0"/>
              </a:spcAft>
              <a:buNone/>
            </a:pPr>
            <a:r>
              <a:t/>
            </a:r>
            <a:endParaRPr b="1" sz="1800">
              <a:solidFill>
                <a:schemeClr val="lt1"/>
              </a:solidFill>
            </a:endParaRPr>
          </a:p>
        </p:txBody>
      </p:sp>
      <p:pic>
        <p:nvPicPr>
          <p:cNvPr id="124" name="Google Shape;124;p22" title="output.png"/>
          <p:cNvPicPr preferRelativeResize="0"/>
          <p:nvPr/>
        </p:nvPicPr>
        <p:blipFill>
          <a:blip r:embed="rId3">
            <a:alphaModFix/>
          </a:blip>
          <a:stretch>
            <a:fillRect/>
          </a:stretch>
        </p:blipFill>
        <p:spPr>
          <a:xfrm>
            <a:off x="3487450" y="1507825"/>
            <a:ext cx="5439701" cy="3452475"/>
          </a:xfrm>
          <a:prstGeom prst="rect">
            <a:avLst/>
          </a:prstGeom>
          <a:noFill/>
          <a:ln>
            <a:noFill/>
          </a:ln>
        </p:spPr>
      </p:pic>
      <p:sp>
        <p:nvSpPr>
          <p:cNvPr id="125" name="Google Shape;125;p22"/>
          <p:cNvSpPr txBox="1"/>
          <p:nvPr/>
        </p:nvSpPr>
        <p:spPr>
          <a:xfrm>
            <a:off x="190250" y="1895350"/>
            <a:ext cx="3053100" cy="300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419" sz="1300">
                <a:solidFill>
                  <a:schemeClr val="lt1"/>
                </a:solidFill>
              </a:rPr>
              <a:t>-Si el Local gana al descanso, tiene un 81.2% de probabilidad de ganar el partido.</a:t>
            </a:r>
            <a:endParaRPr sz="1300">
              <a:solidFill>
                <a:schemeClr val="lt1"/>
              </a:solidFill>
            </a:endParaRPr>
          </a:p>
          <a:p>
            <a:pPr indent="0" lvl="0" marL="0" rtl="0" algn="l">
              <a:spcBef>
                <a:spcPts val="0"/>
              </a:spcBef>
              <a:spcAft>
                <a:spcPts val="0"/>
              </a:spcAft>
              <a:buNone/>
            </a:pPr>
            <a:r>
              <a:rPr lang="es-419" sz="1300">
                <a:solidFill>
                  <a:schemeClr val="lt1"/>
                </a:solidFill>
              </a:rPr>
              <a:t>-Si al descanso hay empate, la probabilidad de empate al final del partido es de 38.0%.</a:t>
            </a:r>
            <a:endParaRPr sz="1300">
              <a:solidFill>
                <a:schemeClr val="lt1"/>
              </a:solidFill>
            </a:endParaRPr>
          </a:p>
          <a:p>
            <a:pPr indent="0" lvl="0" marL="0" rtl="0" algn="l">
              <a:spcBef>
                <a:spcPts val="0"/>
              </a:spcBef>
              <a:spcAft>
                <a:spcPts val="0"/>
              </a:spcAft>
              <a:buNone/>
            </a:pPr>
            <a:r>
              <a:rPr lang="es-419" sz="1300">
                <a:solidFill>
                  <a:schemeClr val="lt1"/>
                </a:solidFill>
              </a:rPr>
              <a:t>-Si el Visitante gana al descanso, tiene un 68.8% de probabilidad de ganar el partido.</a:t>
            </a:r>
            <a:endParaRPr sz="1300">
              <a:solidFill>
                <a:schemeClr val="lt1"/>
              </a:solidFill>
            </a:endParaRPr>
          </a:p>
          <a:p>
            <a:pPr indent="0" lvl="0" marL="0" rtl="0" algn="l">
              <a:spcBef>
                <a:spcPts val="0"/>
              </a:spcBef>
              <a:spcAft>
                <a:spcPts val="0"/>
              </a:spcAft>
              <a:buNone/>
            </a:pPr>
            <a:r>
              <a:t/>
            </a:r>
            <a:endParaRPr sz="1300">
              <a:solidFill>
                <a:schemeClr val="lt1"/>
              </a:solidFill>
            </a:endParaRPr>
          </a:p>
          <a:p>
            <a:pPr indent="0" lvl="0" marL="0" rtl="0" algn="l">
              <a:spcBef>
                <a:spcPts val="0"/>
              </a:spcBef>
              <a:spcAft>
                <a:spcPts val="0"/>
              </a:spcAft>
              <a:buNone/>
            </a:pPr>
            <a:r>
              <a:rPr lang="es-419" sz="1300">
                <a:solidFill>
                  <a:schemeClr val="lt1"/>
                </a:solidFill>
              </a:rPr>
              <a:t> Cabe destacar que el empate tiene un % más bajo debido a ventaja local, se verifica que en caso de empate al descanso, termina ganando más el local que el visitante. </a:t>
            </a:r>
            <a:endParaRPr sz="1300">
              <a:solidFill>
                <a:schemeClr val="lt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51AB2A"/>
            </a:gs>
            <a:gs pos="100000">
              <a:srgbClr val="203E13"/>
            </a:gs>
          </a:gsLst>
          <a:lin ang="5400012" scaled="0"/>
        </a:gradFill>
      </p:bgPr>
    </p:bg>
    <p:spTree>
      <p:nvGrpSpPr>
        <p:cNvPr id="129" name="Shape 129"/>
        <p:cNvGrpSpPr/>
        <p:nvPr/>
      </p:nvGrpSpPr>
      <p:grpSpPr>
        <a:xfrm>
          <a:off x="0" y="0"/>
          <a:ext cx="0" cy="0"/>
          <a:chOff x="0" y="0"/>
          <a:chExt cx="0" cy="0"/>
        </a:xfrm>
      </p:grpSpPr>
      <p:sp>
        <p:nvSpPr>
          <p:cNvPr id="130" name="Google Shape;130;p23"/>
          <p:cNvSpPr txBox="1"/>
          <p:nvPr/>
        </p:nvSpPr>
        <p:spPr>
          <a:xfrm>
            <a:off x="150750" y="1496100"/>
            <a:ext cx="4421100" cy="3264600"/>
          </a:xfrm>
          <a:prstGeom prst="rect">
            <a:avLst/>
          </a:prstGeom>
          <a:noFill/>
          <a:ln>
            <a:noFill/>
          </a:ln>
        </p:spPr>
        <p:txBody>
          <a:bodyPr anchorCtr="0" anchor="t" bIns="91425" lIns="91425" spcFirstLastPara="1" rIns="91425" wrap="square" tIns="91425">
            <a:noAutofit/>
          </a:bodyPr>
          <a:lstStyle/>
          <a:p>
            <a:pPr indent="0" lvl="0" marL="0" rtl="0" algn="l">
              <a:lnSpc>
                <a:spcPct val="137500"/>
              </a:lnSpc>
              <a:spcBef>
                <a:spcPts val="0"/>
              </a:spcBef>
              <a:spcAft>
                <a:spcPts val="0"/>
              </a:spcAft>
              <a:buClr>
                <a:schemeClr val="dk1"/>
              </a:buClr>
              <a:buSzPts val="1100"/>
              <a:buFont typeface="Arial"/>
              <a:buNone/>
            </a:pPr>
            <a:r>
              <a:rPr lang="es-419" sz="1600">
                <a:solidFill>
                  <a:schemeClr val="lt1"/>
                </a:solidFill>
              </a:rPr>
              <a:t>Para definir el "estilo", usaremos dos variables compuestas que resumen la acción del partido:</a:t>
            </a:r>
            <a:endParaRPr sz="1600">
              <a:solidFill>
                <a:schemeClr val="lt1"/>
              </a:solidFill>
            </a:endParaRPr>
          </a:p>
          <a:p>
            <a:pPr indent="0" lvl="0" marL="0" rtl="0" algn="l">
              <a:lnSpc>
                <a:spcPct val="137500"/>
              </a:lnSpc>
              <a:spcBef>
                <a:spcPts val="0"/>
              </a:spcBef>
              <a:spcAft>
                <a:spcPts val="0"/>
              </a:spcAft>
              <a:buClr>
                <a:schemeClr val="dk1"/>
              </a:buClr>
              <a:buSzPts val="1100"/>
              <a:buFont typeface="Arial"/>
              <a:buNone/>
            </a:pPr>
            <a:r>
              <a:rPr lang="es-419" sz="1600">
                <a:solidFill>
                  <a:schemeClr val="lt1"/>
                </a:solidFill>
              </a:rPr>
              <a:t>1.  Goles Totales:  (`FTHG` + `FTAG`).</a:t>
            </a:r>
            <a:endParaRPr sz="1600">
              <a:solidFill>
                <a:schemeClr val="lt1"/>
              </a:solidFill>
            </a:endParaRPr>
          </a:p>
          <a:p>
            <a:pPr indent="0" lvl="0" marL="0" rtl="0" algn="l">
              <a:lnSpc>
                <a:spcPct val="137500"/>
              </a:lnSpc>
              <a:spcBef>
                <a:spcPts val="0"/>
              </a:spcBef>
              <a:spcAft>
                <a:spcPts val="0"/>
              </a:spcAft>
              <a:buClr>
                <a:schemeClr val="dk1"/>
              </a:buClr>
              <a:buSzPts val="1100"/>
              <a:buFont typeface="Arial"/>
              <a:buNone/>
            </a:pPr>
            <a:r>
              <a:rPr lang="es-419" sz="1600">
                <a:solidFill>
                  <a:schemeClr val="lt1"/>
                </a:solidFill>
              </a:rPr>
              <a:t>2.  Tiros Totales:  (`HS` + `AS`)</a:t>
            </a:r>
            <a:endParaRPr sz="1600">
              <a:solidFill>
                <a:schemeClr val="lt1"/>
              </a:solidFill>
            </a:endParaRPr>
          </a:p>
          <a:p>
            <a:pPr indent="0" lvl="0" marL="0" rtl="0" algn="l">
              <a:spcBef>
                <a:spcPts val="0"/>
              </a:spcBef>
              <a:spcAft>
                <a:spcPts val="0"/>
              </a:spcAft>
              <a:buNone/>
            </a:pPr>
            <a:r>
              <a:rPr lang="es-419" sz="1900">
                <a:solidFill>
                  <a:schemeClr val="lt1"/>
                </a:solidFill>
              </a:rPr>
              <a:t>Tenemos: </a:t>
            </a:r>
            <a:br>
              <a:rPr lang="es-419" sz="1900">
                <a:solidFill>
                  <a:schemeClr val="lt1"/>
                </a:solidFill>
              </a:rPr>
            </a:br>
            <a:r>
              <a:rPr lang="es-419" sz="1600">
                <a:solidFill>
                  <a:schemeClr val="lt1"/>
                </a:solidFill>
              </a:rPr>
              <a:t>Correlación de Pearson entre Tiros Totales y Goles Totales: 0.2078</a:t>
            </a:r>
            <a:endParaRPr sz="1600">
              <a:solidFill>
                <a:schemeClr val="lt1"/>
              </a:solidFill>
            </a:endParaRPr>
          </a:p>
          <a:p>
            <a:pPr indent="0" lvl="0" marL="0" rtl="0" algn="l">
              <a:spcBef>
                <a:spcPts val="0"/>
              </a:spcBef>
              <a:spcAft>
                <a:spcPts val="0"/>
              </a:spcAft>
              <a:buNone/>
            </a:pPr>
            <a:r>
              <a:rPr lang="es-419" sz="1600">
                <a:solidFill>
                  <a:schemeClr val="lt1"/>
                </a:solidFill>
              </a:rPr>
              <a:t>Tenemos una </a:t>
            </a:r>
            <a:r>
              <a:rPr lang="es-419" sz="1600">
                <a:solidFill>
                  <a:schemeClr val="lt1"/>
                </a:solidFill>
              </a:rPr>
              <a:t>correlación</a:t>
            </a:r>
            <a:r>
              <a:rPr lang="es-419" sz="1600">
                <a:solidFill>
                  <a:schemeClr val="lt1"/>
                </a:solidFill>
              </a:rPr>
              <a:t> ideal para K-means, ambas variables aportan información diferente.</a:t>
            </a:r>
            <a:endParaRPr sz="2300">
              <a:solidFill>
                <a:schemeClr val="lt1"/>
              </a:solidFill>
            </a:endParaRPr>
          </a:p>
        </p:txBody>
      </p:sp>
      <p:sp>
        <p:nvSpPr>
          <p:cNvPr id="131" name="Google Shape;131;p23"/>
          <p:cNvSpPr txBox="1"/>
          <p:nvPr/>
        </p:nvSpPr>
        <p:spPr>
          <a:xfrm>
            <a:off x="518800" y="263500"/>
            <a:ext cx="8267400" cy="1103400"/>
          </a:xfrm>
          <a:prstGeom prst="rect">
            <a:avLst/>
          </a:prstGeom>
          <a:noFill/>
          <a:ln>
            <a:noFill/>
          </a:ln>
        </p:spPr>
        <p:txBody>
          <a:bodyPr anchorCtr="0" anchor="t" bIns="91425" lIns="91425" spcFirstLastPara="1" rIns="91425" wrap="square" tIns="91425">
            <a:noAutofit/>
          </a:bodyPr>
          <a:lstStyle/>
          <a:p>
            <a:pPr indent="0" lvl="0" marL="0" rtl="0" algn="l">
              <a:lnSpc>
                <a:spcPct val="137500"/>
              </a:lnSpc>
              <a:spcBef>
                <a:spcPts val="0"/>
              </a:spcBef>
              <a:spcAft>
                <a:spcPts val="0"/>
              </a:spcAft>
              <a:buNone/>
            </a:pPr>
            <a:r>
              <a:rPr lang="es-419" sz="1700">
                <a:solidFill>
                  <a:srgbClr val="FFFFFF"/>
                </a:solidFill>
              </a:rPr>
              <a:t>Pregunta 3: </a:t>
            </a:r>
            <a:r>
              <a:rPr lang="es-419" sz="1600">
                <a:solidFill>
                  <a:schemeClr val="lt1"/>
                </a:solidFill>
              </a:rPr>
              <a:t>¿Podemos agrupar los partidos en diferentes "estilos de juego" basándonos en la cantidad de goles y tiros?</a:t>
            </a:r>
            <a:endParaRPr sz="1900">
              <a:solidFill>
                <a:schemeClr val="dk2"/>
              </a:solidFill>
            </a:endParaRPr>
          </a:p>
          <a:p>
            <a:pPr indent="0" lvl="0" marL="0" rtl="0" algn="l">
              <a:spcBef>
                <a:spcPts val="0"/>
              </a:spcBef>
              <a:spcAft>
                <a:spcPts val="0"/>
              </a:spcAft>
              <a:buNone/>
            </a:pPr>
            <a:r>
              <a:rPr lang="es-419" sz="1800">
                <a:solidFill>
                  <a:schemeClr val="lt1"/>
                </a:solidFill>
              </a:rPr>
              <a:t>Para ello utilizaremos la </a:t>
            </a:r>
            <a:r>
              <a:rPr lang="es-419" sz="1800">
                <a:solidFill>
                  <a:schemeClr val="lt1"/>
                </a:solidFill>
              </a:rPr>
              <a:t>técnica</a:t>
            </a:r>
            <a:r>
              <a:rPr lang="es-419" sz="1800">
                <a:solidFill>
                  <a:schemeClr val="lt1"/>
                </a:solidFill>
              </a:rPr>
              <a:t> de </a:t>
            </a:r>
            <a:r>
              <a:rPr lang="es-419" sz="1800">
                <a:solidFill>
                  <a:schemeClr val="lt1"/>
                </a:solidFill>
              </a:rPr>
              <a:t>agrupación</a:t>
            </a:r>
            <a:r>
              <a:rPr lang="es-419" sz="1800">
                <a:solidFill>
                  <a:schemeClr val="lt1"/>
                </a:solidFill>
              </a:rPr>
              <a:t> K-Means</a:t>
            </a:r>
            <a:endParaRPr sz="1800">
              <a:solidFill>
                <a:schemeClr val="lt1"/>
              </a:solidFill>
            </a:endParaRPr>
          </a:p>
        </p:txBody>
      </p:sp>
      <p:sp>
        <p:nvSpPr>
          <p:cNvPr id="132" name="Google Shape;132;p23"/>
          <p:cNvSpPr txBox="1"/>
          <p:nvPr/>
        </p:nvSpPr>
        <p:spPr>
          <a:xfrm>
            <a:off x="5368975" y="1308200"/>
            <a:ext cx="3335100" cy="352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419" sz="1800">
                <a:solidFill>
                  <a:schemeClr val="lt1"/>
                </a:solidFill>
              </a:rPr>
              <a:t>Método</a:t>
            </a:r>
            <a:r>
              <a:rPr lang="es-419" sz="1800">
                <a:solidFill>
                  <a:schemeClr val="lt1"/>
                </a:solidFill>
              </a:rPr>
              <a:t> del Codo</a:t>
            </a:r>
            <a:endParaRPr sz="1800">
              <a:solidFill>
                <a:schemeClr val="lt1"/>
              </a:solidFill>
            </a:endParaRPr>
          </a:p>
        </p:txBody>
      </p:sp>
      <p:pic>
        <p:nvPicPr>
          <p:cNvPr id="133" name="Google Shape;133;p23" title="output.png"/>
          <p:cNvPicPr preferRelativeResize="0"/>
          <p:nvPr/>
        </p:nvPicPr>
        <p:blipFill>
          <a:blip r:embed="rId3">
            <a:alphaModFix/>
          </a:blip>
          <a:stretch>
            <a:fillRect/>
          </a:stretch>
        </p:blipFill>
        <p:spPr>
          <a:xfrm>
            <a:off x="4771225" y="1718913"/>
            <a:ext cx="4267350" cy="2818964"/>
          </a:xfrm>
          <a:prstGeom prst="rect">
            <a:avLst/>
          </a:prstGeom>
          <a:noFill/>
          <a:ln>
            <a:noFill/>
          </a:ln>
        </p:spPr>
      </p:pic>
      <p:sp>
        <p:nvSpPr>
          <p:cNvPr id="134" name="Google Shape;134;p23"/>
          <p:cNvSpPr txBox="1"/>
          <p:nvPr/>
        </p:nvSpPr>
        <p:spPr>
          <a:xfrm>
            <a:off x="5598025" y="4596400"/>
            <a:ext cx="2877000" cy="199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419" sz="1800">
                <a:solidFill>
                  <a:schemeClr val="lt1"/>
                </a:solidFill>
              </a:rPr>
              <a:t>K=3</a:t>
            </a:r>
            <a:endParaRPr sz="1800">
              <a:solidFill>
                <a:schemeClr val="lt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51AB2A"/>
            </a:gs>
            <a:gs pos="100000">
              <a:srgbClr val="203E13"/>
            </a:gs>
          </a:gsLst>
          <a:lin ang="5400012" scaled="0"/>
        </a:gradFill>
      </p:bgPr>
    </p:bg>
    <p:spTree>
      <p:nvGrpSpPr>
        <p:cNvPr id="138" name="Shape 138"/>
        <p:cNvGrpSpPr/>
        <p:nvPr/>
      </p:nvGrpSpPr>
      <p:grpSpPr>
        <a:xfrm>
          <a:off x="0" y="0"/>
          <a:ext cx="0" cy="0"/>
          <a:chOff x="0" y="0"/>
          <a:chExt cx="0" cy="0"/>
        </a:xfrm>
      </p:grpSpPr>
      <p:pic>
        <p:nvPicPr>
          <p:cNvPr id="139" name="Google Shape;139;p24" title="output.png"/>
          <p:cNvPicPr preferRelativeResize="0"/>
          <p:nvPr/>
        </p:nvPicPr>
        <p:blipFill>
          <a:blip r:embed="rId3">
            <a:alphaModFix/>
          </a:blip>
          <a:stretch>
            <a:fillRect/>
          </a:stretch>
        </p:blipFill>
        <p:spPr>
          <a:xfrm>
            <a:off x="3607500" y="723710"/>
            <a:ext cx="5380975" cy="4236590"/>
          </a:xfrm>
          <a:prstGeom prst="rect">
            <a:avLst/>
          </a:prstGeom>
          <a:noFill/>
          <a:ln>
            <a:noFill/>
          </a:ln>
        </p:spPr>
      </p:pic>
      <p:sp>
        <p:nvSpPr>
          <p:cNvPr id="140" name="Google Shape;140;p24"/>
          <p:cNvSpPr txBox="1"/>
          <p:nvPr/>
        </p:nvSpPr>
        <p:spPr>
          <a:xfrm>
            <a:off x="190250" y="204325"/>
            <a:ext cx="3147300" cy="1339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500">
                <a:solidFill>
                  <a:schemeClr val="lt1"/>
                </a:solidFill>
              </a:rPr>
              <a:t>              </a:t>
            </a:r>
            <a:r>
              <a:rPr lang="es-419" sz="1500">
                <a:solidFill>
                  <a:schemeClr val="lt1"/>
                </a:solidFill>
              </a:rPr>
              <a:t>Total Shots</a:t>
            </a:r>
            <a:r>
              <a:rPr lang="es-419" sz="1500">
                <a:solidFill>
                  <a:schemeClr val="lt1"/>
                </a:solidFill>
              </a:rPr>
              <a:t>  </a:t>
            </a:r>
            <a:r>
              <a:rPr lang="es-419" sz="1500">
                <a:solidFill>
                  <a:schemeClr val="lt1"/>
                </a:solidFill>
              </a:rPr>
              <a:t>Total Goals</a:t>
            </a:r>
            <a:endParaRPr sz="1500">
              <a:solidFill>
                <a:schemeClr val="lt1"/>
              </a:solidFill>
            </a:endParaRPr>
          </a:p>
          <a:p>
            <a:pPr indent="0" lvl="0" marL="0" rtl="0" algn="l">
              <a:spcBef>
                <a:spcPts val="0"/>
              </a:spcBef>
              <a:spcAft>
                <a:spcPts val="0"/>
              </a:spcAft>
              <a:buNone/>
            </a:pPr>
            <a:r>
              <a:rPr lang="es-419" sz="1500">
                <a:solidFill>
                  <a:schemeClr val="lt1"/>
                </a:solidFill>
              </a:rPr>
              <a:t>Cluster                        </a:t>
            </a:r>
            <a:endParaRPr sz="1500">
              <a:solidFill>
                <a:schemeClr val="lt1"/>
              </a:solidFill>
            </a:endParaRPr>
          </a:p>
          <a:p>
            <a:pPr indent="0" lvl="0" marL="0" rtl="0" algn="l">
              <a:spcBef>
                <a:spcPts val="0"/>
              </a:spcBef>
              <a:spcAft>
                <a:spcPts val="0"/>
              </a:spcAft>
              <a:buNone/>
            </a:pPr>
            <a:r>
              <a:rPr lang="es-419" sz="1500">
                <a:solidFill>
                  <a:schemeClr val="lt1"/>
                </a:solidFill>
              </a:rPr>
              <a:t>0           18.973078    1.955367</a:t>
            </a:r>
            <a:endParaRPr sz="1500">
              <a:solidFill>
                <a:schemeClr val="lt1"/>
              </a:solidFill>
            </a:endParaRPr>
          </a:p>
          <a:p>
            <a:pPr indent="0" lvl="0" marL="0" rtl="0" algn="l">
              <a:spcBef>
                <a:spcPts val="0"/>
              </a:spcBef>
              <a:spcAft>
                <a:spcPts val="0"/>
              </a:spcAft>
              <a:buNone/>
            </a:pPr>
            <a:r>
              <a:rPr lang="es-419" sz="1500">
                <a:solidFill>
                  <a:schemeClr val="lt1"/>
                </a:solidFill>
              </a:rPr>
              <a:t>1           26.737618    4.867925</a:t>
            </a:r>
            <a:endParaRPr sz="1500">
              <a:solidFill>
                <a:schemeClr val="lt1"/>
              </a:solidFill>
            </a:endParaRPr>
          </a:p>
          <a:p>
            <a:pPr indent="0" lvl="0" marL="0" rtl="0" algn="l">
              <a:spcBef>
                <a:spcPts val="0"/>
              </a:spcBef>
              <a:spcAft>
                <a:spcPts val="0"/>
              </a:spcAft>
              <a:buNone/>
            </a:pPr>
            <a:r>
              <a:rPr lang="es-419" sz="1500">
                <a:solidFill>
                  <a:schemeClr val="lt1"/>
                </a:solidFill>
              </a:rPr>
              <a:t>2           28.085308    1.897027</a:t>
            </a:r>
            <a:endParaRPr sz="2100">
              <a:solidFill>
                <a:schemeClr val="lt1"/>
              </a:solidFill>
            </a:endParaRPr>
          </a:p>
        </p:txBody>
      </p:sp>
      <p:sp>
        <p:nvSpPr>
          <p:cNvPr id="141" name="Google Shape;141;p24"/>
          <p:cNvSpPr txBox="1"/>
          <p:nvPr/>
        </p:nvSpPr>
        <p:spPr>
          <a:xfrm>
            <a:off x="190250" y="1785663"/>
            <a:ext cx="3147300" cy="3078900"/>
          </a:xfrm>
          <a:prstGeom prst="rect">
            <a:avLst/>
          </a:prstGeom>
          <a:noFill/>
          <a:ln>
            <a:noFill/>
          </a:ln>
        </p:spPr>
        <p:txBody>
          <a:bodyPr anchorCtr="0" anchor="t" bIns="91425" lIns="91425" spcFirstLastPara="1" rIns="91425" wrap="square" tIns="91425">
            <a:noAutofit/>
          </a:bodyPr>
          <a:lstStyle/>
          <a:p>
            <a:pPr indent="0" lvl="0" marL="0" rtl="0" algn="l">
              <a:lnSpc>
                <a:spcPct val="137500"/>
              </a:lnSpc>
              <a:spcBef>
                <a:spcPts val="0"/>
              </a:spcBef>
              <a:spcAft>
                <a:spcPts val="0"/>
              </a:spcAft>
              <a:buNone/>
            </a:pPr>
            <a:r>
              <a:rPr lang="es-419" sz="1300">
                <a:solidFill>
                  <a:schemeClr val="lt1"/>
                </a:solidFill>
              </a:rPr>
              <a:t>ANÁLISIS</a:t>
            </a:r>
            <a:r>
              <a:rPr lang="es-419" sz="1300">
                <a:solidFill>
                  <a:schemeClr val="lt1"/>
                </a:solidFill>
              </a:rPr>
              <a:t> DE CLUSTERS:</a:t>
            </a:r>
            <a:endParaRPr sz="1300">
              <a:solidFill>
                <a:schemeClr val="lt1"/>
              </a:solidFill>
            </a:endParaRPr>
          </a:p>
          <a:p>
            <a:pPr indent="0" lvl="0" marL="0" rtl="0" algn="l">
              <a:lnSpc>
                <a:spcPct val="137500"/>
              </a:lnSpc>
              <a:spcBef>
                <a:spcPts val="0"/>
              </a:spcBef>
              <a:spcAft>
                <a:spcPts val="0"/>
              </a:spcAft>
              <a:buClr>
                <a:schemeClr val="dk1"/>
              </a:buClr>
              <a:buSzPts val="1100"/>
              <a:buFont typeface="Arial"/>
              <a:buNone/>
            </a:pPr>
            <a:r>
              <a:t/>
            </a:r>
            <a:endParaRPr sz="1300">
              <a:solidFill>
                <a:schemeClr val="lt1"/>
              </a:solidFill>
            </a:endParaRPr>
          </a:p>
          <a:p>
            <a:pPr indent="0" lvl="0" marL="0" rtl="0" algn="l">
              <a:lnSpc>
                <a:spcPct val="137500"/>
              </a:lnSpc>
              <a:spcBef>
                <a:spcPts val="0"/>
              </a:spcBef>
              <a:spcAft>
                <a:spcPts val="0"/>
              </a:spcAft>
              <a:buClr>
                <a:schemeClr val="dk1"/>
              </a:buClr>
              <a:buSzPts val="1100"/>
              <a:buFont typeface="Arial"/>
              <a:buNone/>
            </a:pPr>
            <a:r>
              <a:rPr lang="es-419" sz="1300">
                <a:solidFill>
                  <a:schemeClr val="lt1"/>
                </a:solidFill>
                <a:highlight>
                  <a:srgbClr val="9900FF"/>
                </a:highlight>
              </a:rPr>
              <a:t>* Cluster 0: Pocos Tiros (~19) y Pocos Goles (~2) -&gt;   Estilo Defensivo/Cerrado.</a:t>
            </a:r>
            <a:endParaRPr sz="1300">
              <a:solidFill>
                <a:schemeClr val="lt1"/>
              </a:solidFill>
              <a:highlight>
                <a:srgbClr val="9900FF"/>
              </a:highlight>
            </a:endParaRPr>
          </a:p>
          <a:p>
            <a:pPr indent="0" lvl="0" marL="0" rtl="0" algn="l">
              <a:lnSpc>
                <a:spcPct val="137500"/>
              </a:lnSpc>
              <a:spcBef>
                <a:spcPts val="0"/>
              </a:spcBef>
              <a:spcAft>
                <a:spcPts val="0"/>
              </a:spcAft>
              <a:buClr>
                <a:schemeClr val="dk1"/>
              </a:buClr>
              <a:buSzPts val="1100"/>
              <a:buFont typeface="Arial"/>
              <a:buNone/>
            </a:pPr>
            <a:r>
              <a:rPr lang="es-419" sz="1300">
                <a:solidFill>
                  <a:schemeClr val="lt1"/>
                </a:solidFill>
                <a:highlight>
                  <a:srgbClr val="45818E"/>
                </a:highlight>
              </a:rPr>
              <a:t>*  Cluster 1: Muchos Tiros (~27) y Muchos Goles (~5) -&gt;  Estilo Ofensivo/Abierto.</a:t>
            </a:r>
            <a:endParaRPr sz="1300">
              <a:solidFill>
                <a:schemeClr val="lt1"/>
              </a:solidFill>
              <a:highlight>
                <a:srgbClr val="45818E"/>
              </a:highlight>
            </a:endParaRPr>
          </a:p>
          <a:p>
            <a:pPr indent="0" lvl="0" marL="0" rtl="0" algn="l">
              <a:lnSpc>
                <a:spcPct val="137500"/>
              </a:lnSpc>
              <a:spcBef>
                <a:spcPts val="0"/>
              </a:spcBef>
              <a:spcAft>
                <a:spcPts val="0"/>
              </a:spcAft>
              <a:buClr>
                <a:schemeClr val="dk1"/>
              </a:buClr>
              <a:buSzPts val="1100"/>
              <a:buFont typeface="Arial"/>
              <a:buNone/>
            </a:pPr>
            <a:r>
              <a:rPr lang="es-419" sz="1300">
                <a:solidFill>
                  <a:schemeClr val="lt1"/>
                </a:solidFill>
                <a:highlight>
                  <a:srgbClr val="F1C232"/>
                </a:highlight>
              </a:rPr>
              <a:t>*  Cluster 2: Muchos Tiros (~28) pero Pocos Goles (~2) -&gt;  Partidos Abiertos con poco acierto de cara a portería.</a:t>
            </a:r>
            <a:endParaRPr sz="1300">
              <a:solidFill>
                <a:schemeClr val="lt1"/>
              </a:solidFill>
              <a:highlight>
                <a:srgbClr val="F1C232"/>
              </a:highlight>
            </a:endParaRPr>
          </a:p>
          <a:p>
            <a:pPr indent="0" lvl="0" marL="0" rtl="0" algn="l">
              <a:lnSpc>
                <a:spcPct val="137500"/>
              </a:lnSpc>
              <a:spcBef>
                <a:spcPts val="0"/>
              </a:spcBef>
              <a:spcAft>
                <a:spcPts val="0"/>
              </a:spcAft>
              <a:buClr>
                <a:schemeClr val="dk1"/>
              </a:buClr>
              <a:buSzPts val="1100"/>
              <a:buFont typeface="Arial"/>
              <a:buNone/>
            </a:pPr>
            <a:r>
              <a:t/>
            </a:r>
            <a:endParaRPr sz="1200">
              <a:solidFill>
                <a:srgbClr val="D5CED9"/>
              </a:solidFill>
              <a:highlight>
                <a:srgbClr val="23262E"/>
              </a:highlight>
              <a:latin typeface="Courier New"/>
              <a:ea typeface="Courier New"/>
              <a:cs typeface="Courier New"/>
              <a:sym typeface="Courier New"/>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51AB2A"/>
            </a:gs>
            <a:gs pos="100000">
              <a:srgbClr val="203E13"/>
            </a:gs>
          </a:gsLst>
          <a:lin ang="5400012" scaled="0"/>
        </a:gradFill>
      </p:bgPr>
    </p:bg>
    <p:spTree>
      <p:nvGrpSpPr>
        <p:cNvPr id="145" name="Shape 145"/>
        <p:cNvGrpSpPr/>
        <p:nvPr/>
      </p:nvGrpSpPr>
      <p:grpSpPr>
        <a:xfrm>
          <a:off x="0" y="0"/>
          <a:ext cx="0" cy="0"/>
          <a:chOff x="0" y="0"/>
          <a:chExt cx="0" cy="0"/>
        </a:xfrm>
      </p:grpSpPr>
      <p:sp>
        <p:nvSpPr>
          <p:cNvPr id="146" name="Google Shape;146;p25"/>
          <p:cNvSpPr txBox="1"/>
          <p:nvPr/>
        </p:nvSpPr>
        <p:spPr>
          <a:xfrm>
            <a:off x="0" y="117600"/>
            <a:ext cx="9144000" cy="732900"/>
          </a:xfrm>
          <a:prstGeom prst="rect">
            <a:avLst/>
          </a:prstGeom>
          <a:noFill/>
          <a:ln>
            <a:noFill/>
          </a:ln>
        </p:spPr>
        <p:txBody>
          <a:bodyPr anchorCtr="0" anchor="t" bIns="91425" lIns="91425" spcFirstLastPara="1" rIns="91425" wrap="square" tIns="91425">
            <a:spAutoFit/>
          </a:bodyPr>
          <a:lstStyle/>
          <a:p>
            <a:pPr indent="0" lvl="0" marL="0" rtl="0" algn="l">
              <a:lnSpc>
                <a:spcPct val="137500"/>
              </a:lnSpc>
              <a:spcBef>
                <a:spcPts val="0"/>
              </a:spcBef>
              <a:spcAft>
                <a:spcPts val="0"/>
              </a:spcAft>
              <a:buNone/>
            </a:pPr>
            <a:r>
              <a:rPr b="1" lang="es-419" sz="1500">
                <a:solidFill>
                  <a:schemeClr val="lt1"/>
                </a:solidFill>
              </a:rPr>
              <a:t>EXTRA:</a:t>
            </a:r>
            <a:br>
              <a:rPr b="1" lang="es-419" sz="1500">
                <a:solidFill>
                  <a:schemeClr val="lt1"/>
                </a:solidFill>
              </a:rPr>
            </a:br>
            <a:r>
              <a:rPr lang="es-419" sz="1500">
                <a:solidFill>
                  <a:schemeClr val="lt1"/>
                </a:solidFill>
              </a:rPr>
              <a:t>Visualización</a:t>
            </a:r>
            <a:r>
              <a:rPr lang="es-419" sz="1500">
                <a:solidFill>
                  <a:schemeClr val="lt1"/>
                </a:solidFill>
              </a:rPr>
              <a:t> de la </a:t>
            </a:r>
            <a:r>
              <a:rPr lang="es-419" sz="1500">
                <a:solidFill>
                  <a:schemeClr val="lt1"/>
                </a:solidFill>
              </a:rPr>
              <a:t>proporción</a:t>
            </a:r>
            <a:r>
              <a:rPr lang="es-419" sz="1500">
                <a:solidFill>
                  <a:schemeClr val="lt1"/>
                </a:solidFill>
              </a:rPr>
              <a:t> de cada estilo.</a:t>
            </a:r>
            <a:endParaRPr>
              <a:solidFill>
                <a:schemeClr val="lt1"/>
              </a:solidFill>
            </a:endParaRPr>
          </a:p>
        </p:txBody>
      </p:sp>
      <p:pic>
        <p:nvPicPr>
          <p:cNvPr id="147" name="Google Shape;147;p25" title="output.png"/>
          <p:cNvPicPr preferRelativeResize="0"/>
          <p:nvPr/>
        </p:nvPicPr>
        <p:blipFill>
          <a:blip r:embed="rId3">
            <a:alphaModFix/>
          </a:blip>
          <a:stretch>
            <a:fillRect/>
          </a:stretch>
        </p:blipFill>
        <p:spPr>
          <a:xfrm>
            <a:off x="2912050" y="897475"/>
            <a:ext cx="5923403" cy="3988200"/>
          </a:xfrm>
          <a:prstGeom prst="rect">
            <a:avLst/>
          </a:prstGeom>
          <a:noFill/>
          <a:ln>
            <a:noFill/>
          </a:ln>
        </p:spPr>
      </p:pic>
      <p:sp>
        <p:nvSpPr>
          <p:cNvPr id="148" name="Google Shape;148;p25"/>
          <p:cNvSpPr txBox="1"/>
          <p:nvPr/>
        </p:nvSpPr>
        <p:spPr>
          <a:xfrm>
            <a:off x="202000" y="1981525"/>
            <a:ext cx="2360400" cy="1820100"/>
          </a:xfrm>
          <a:prstGeom prst="rect">
            <a:avLst/>
          </a:prstGeom>
          <a:noFill/>
          <a:ln>
            <a:noFill/>
          </a:ln>
        </p:spPr>
        <p:txBody>
          <a:bodyPr anchorCtr="0" anchor="t" bIns="91425" lIns="91425" spcFirstLastPara="1" rIns="91425" wrap="square" tIns="91425">
            <a:noAutofit/>
          </a:bodyPr>
          <a:lstStyle/>
          <a:p>
            <a:pPr indent="-342900" lvl="0" marL="457200" rtl="0" algn="l">
              <a:spcBef>
                <a:spcPts val="0"/>
              </a:spcBef>
              <a:spcAft>
                <a:spcPts val="0"/>
              </a:spcAft>
              <a:buClr>
                <a:schemeClr val="lt1"/>
              </a:buClr>
              <a:buSzPts val="1800"/>
              <a:buChar char="●"/>
            </a:pPr>
            <a:r>
              <a:rPr lang="es-419" sz="1800">
                <a:solidFill>
                  <a:schemeClr val="lt1"/>
                </a:solidFill>
              </a:rPr>
              <a:t>Los partidos </a:t>
            </a:r>
            <a:r>
              <a:rPr lang="es-419" sz="1800">
                <a:solidFill>
                  <a:schemeClr val="lt1"/>
                </a:solidFill>
              </a:rPr>
              <a:t>más</a:t>
            </a:r>
            <a:r>
              <a:rPr lang="es-419" sz="1800">
                <a:solidFill>
                  <a:schemeClr val="lt1"/>
                </a:solidFill>
              </a:rPr>
              <a:t> predominantes son los partidos defensivos/cerrados.</a:t>
            </a:r>
            <a:endParaRPr sz="1800">
              <a:solidFill>
                <a:schemeClr val="lt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51AB2A"/>
            </a:gs>
            <a:gs pos="100000">
              <a:srgbClr val="203E13"/>
            </a:gs>
          </a:gsLst>
          <a:lin ang="5400012" scaled="0"/>
        </a:gradFill>
      </p:bgPr>
    </p:bg>
    <p:spTree>
      <p:nvGrpSpPr>
        <p:cNvPr id="152" name="Shape 152"/>
        <p:cNvGrpSpPr/>
        <p:nvPr/>
      </p:nvGrpSpPr>
      <p:grpSpPr>
        <a:xfrm>
          <a:off x="0" y="0"/>
          <a:ext cx="0" cy="0"/>
          <a:chOff x="0" y="0"/>
          <a:chExt cx="0" cy="0"/>
        </a:xfrm>
      </p:grpSpPr>
      <p:sp>
        <p:nvSpPr>
          <p:cNvPr id="153" name="Google Shape;153;p26"/>
          <p:cNvSpPr txBox="1"/>
          <p:nvPr/>
        </p:nvSpPr>
        <p:spPr>
          <a:xfrm>
            <a:off x="1611150" y="145625"/>
            <a:ext cx="557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s-419" sz="1900">
                <a:solidFill>
                  <a:schemeClr val="lt1"/>
                </a:solidFill>
              </a:rPr>
              <a:t>Respuestas a las Preguntas de Investigación</a:t>
            </a:r>
            <a:endParaRPr b="1" sz="1900">
              <a:solidFill>
                <a:schemeClr val="lt1"/>
              </a:solidFill>
            </a:endParaRPr>
          </a:p>
        </p:txBody>
      </p:sp>
      <p:sp>
        <p:nvSpPr>
          <p:cNvPr id="154" name="Google Shape;154;p26"/>
          <p:cNvSpPr txBox="1"/>
          <p:nvPr/>
        </p:nvSpPr>
        <p:spPr>
          <a:xfrm>
            <a:off x="0" y="509675"/>
            <a:ext cx="9144000" cy="1515000"/>
          </a:xfrm>
          <a:prstGeom prst="rect">
            <a:avLst/>
          </a:prstGeom>
          <a:noFill/>
          <a:ln>
            <a:noFill/>
          </a:ln>
        </p:spPr>
        <p:txBody>
          <a:bodyPr anchorCtr="0" anchor="t" bIns="91425" lIns="91425" spcFirstLastPara="1" rIns="91425" wrap="square" tIns="91425">
            <a:noAutofit/>
          </a:bodyPr>
          <a:lstStyle/>
          <a:p>
            <a:pPr indent="0" lvl="0" marL="0" rtl="0" algn="l">
              <a:lnSpc>
                <a:spcPct val="137500"/>
              </a:lnSpc>
              <a:spcBef>
                <a:spcPts val="0"/>
              </a:spcBef>
              <a:spcAft>
                <a:spcPts val="0"/>
              </a:spcAft>
              <a:buNone/>
            </a:pPr>
            <a:r>
              <a:rPr lang="es-419" sz="1700">
                <a:solidFill>
                  <a:schemeClr val="lt1"/>
                </a:solidFill>
              </a:rPr>
              <a:t>Pregunta 1:¿</a:t>
            </a:r>
            <a:r>
              <a:rPr lang="es-419" sz="1800">
                <a:solidFill>
                  <a:schemeClr val="lt1"/>
                </a:solidFill>
              </a:rPr>
              <a:t>El equipo local gana con más frecuencia de lo que lo hace el visitante</a:t>
            </a:r>
            <a:r>
              <a:rPr lang="es-419" sz="1700">
                <a:solidFill>
                  <a:schemeClr val="lt1"/>
                </a:solidFill>
              </a:rPr>
              <a:t>?</a:t>
            </a:r>
            <a:endParaRPr sz="1700">
              <a:solidFill>
                <a:schemeClr val="lt1"/>
              </a:solidFill>
            </a:endParaRPr>
          </a:p>
          <a:p>
            <a:pPr indent="-336550" lvl="0" marL="457200" rtl="0" algn="l">
              <a:lnSpc>
                <a:spcPct val="137500"/>
              </a:lnSpc>
              <a:spcBef>
                <a:spcPts val="0"/>
              </a:spcBef>
              <a:spcAft>
                <a:spcPts val="0"/>
              </a:spcAft>
              <a:buClr>
                <a:schemeClr val="lt1"/>
              </a:buClr>
              <a:buSzPts val="1700"/>
              <a:buChar char="●"/>
            </a:pPr>
            <a:r>
              <a:rPr lang="es-419" sz="1700">
                <a:solidFill>
                  <a:schemeClr val="lt1"/>
                </a:solidFill>
              </a:rPr>
              <a:t>Efectivamente se comprobó que el equipo local gana con más frecuencia que el visitante, exactamente para un total de 5089 partidos sin empate, ganaron los locales un total de 3176 lo que equivale a un 62%.</a:t>
            </a:r>
            <a:endParaRPr sz="1700">
              <a:solidFill>
                <a:schemeClr val="lt1"/>
              </a:solidFill>
            </a:endParaRPr>
          </a:p>
        </p:txBody>
      </p:sp>
      <p:sp>
        <p:nvSpPr>
          <p:cNvPr id="155" name="Google Shape;155;p26"/>
          <p:cNvSpPr txBox="1"/>
          <p:nvPr/>
        </p:nvSpPr>
        <p:spPr>
          <a:xfrm>
            <a:off x="0" y="2494400"/>
            <a:ext cx="9144000" cy="2137200"/>
          </a:xfrm>
          <a:prstGeom prst="rect">
            <a:avLst/>
          </a:prstGeom>
          <a:noFill/>
          <a:ln>
            <a:noFill/>
          </a:ln>
        </p:spPr>
        <p:txBody>
          <a:bodyPr anchorCtr="0" anchor="t" bIns="91425" lIns="91425" spcFirstLastPara="1" rIns="91425" wrap="square" tIns="91425">
            <a:noAutofit/>
          </a:bodyPr>
          <a:lstStyle/>
          <a:p>
            <a:pPr indent="0" lvl="0" marL="0" rtl="0" algn="l">
              <a:lnSpc>
                <a:spcPct val="137500"/>
              </a:lnSpc>
              <a:spcBef>
                <a:spcPts val="0"/>
              </a:spcBef>
              <a:spcAft>
                <a:spcPts val="0"/>
              </a:spcAft>
              <a:buNone/>
            </a:pPr>
            <a:r>
              <a:rPr lang="es-419" sz="1700">
                <a:solidFill>
                  <a:schemeClr val="lt1"/>
                </a:solidFill>
              </a:rPr>
              <a:t>Pregunta 2: ¿</a:t>
            </a:r>
            <a:r>
              <a:rPr lang="es-419" sz="1800">
                <a:solidFill>
                  <a:schemeClr val="lt1"/>
                </a:solidFill>
              </a:rPr>
              <a:t>El resultado al descanso determina el resultado final del partido</a:t>
            </a:r>
            <a:r>
              <a:rPr lang="es-419" sz="1700">
                <a:solidFill>
                  <a:schemeClr val="lt1"/>
                </a:solidFill>
              </a:rPr>
              <a:t>?</a:t>
            </a:r>
            <a:endParaRPr sz="1700">
              <a:solidFill>
                <a:schemeClr val="lt1"/>
              </a:solidFill>
            </a:endParaRPr>
          </a:p>
          <a:p>
            <a:pPr indent="-336550" lvl="0" marL="457200" rtl="0" algn="l">
              <a:lnSpc>
                <a:spcPct val="137500"/>
              </a:lnSpc>
              <a:spcBef>
                <a:spcPts val="0"/>
              </a:spcBef>
              <a:spcAft>
                <a:spcPts val="0"/>
              </a:spcAft>
              <a:buClr>
                <a:schemeClr val="lt1"/>
              </a:buClr>
              <a:buSzPts val="1700"/>
              <a:buChar char="●"/>
            </a:pPr>
            <a:r>
              <a:rPr lang="es-419" sz="1700">
                <a:solidFill>
                  <a:schemeClr val="lt1"/>
                </a:solidFill>
              </a:rPr>
              <a:t>Se verificó que existía una fuerte dependencia entre resultado al descanso y resultado final , con valores mayores al 60% de mantener el resultado si al descanso el resultado era H o A , para los empates el valor fue de un 38% lo cual es menos pero seguía siendo el valor más alto posible en su fila y se podía entender esta disminución debido a la ventaja en la localía.</a:t>
            </a:r>
            <a:endParaRPr sz="1700">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51AB2A"/>
            </a:gs>
            <a:gs pos="100000">
              <a:srgbClr val="203E13"/>
            </a:gs>
          </a:gsLst>
          <a:lin ang="5400012" scaled="0"/>
        </a:gradFill>
      </p:bgPr>
    </p:bg>
    <p:spTree>
      <p:nvGrpSpPr>
        <p:cNvPr id="159" name="Shape 159"/>
        <p:cNvGrpSpPr/>
        <p:nvPr/>
      </p:nvGrpSpPr>
      <p:grpSpPr>
        <a:xfrm>
          <a:off x="0" y="0"/>
          <a:ext cx="0" cy="0"/>
          <a:chOff x="0" y="0"/>
          <a:chExt cx="0" cy="0"/>
        </a:xfrm>
      </p:grpSpPr>
      <p:sp>
        <p:nvSpPr>
          <p:cNvPr id="160" name="Google Shape;160;p27"/>
          <p:cNvSpPr txBox="1"/>
          <p:nvPr/>
        </p:nvSpPr>
        <p:spPr>
          <a:xfrm>
            <a:off x="0" y="263150"/>
            <a:ext cx="9144000" cy="2449500"/>
          </a:xfrm>
          <a:prstGeom prst="rect">
            <a:avLst/>
          </a:prstGeom>
          <a:noFill/>
          <a:ln>
            <a:noFill/>
          </a:ln>
        </p:spPr>
        <p:txBody>
          <a:bodyPr anchorCtr="0" anchor="t" bIns="91425" lIns="91425" spcFirstLastPara="1" rIns="91425" wrap="square" tIns="91425">
            <a:noAutofit/>
          </a:bodyPr>
          <a:lstStyle/>
          <a:p>
            <a:pPr indent="0" lvl="0" marL="0" rtl="0" algn="l">
              <a:lnSpc>
                <a:spcPct val="137500"/>
              </a:lnSpc>
              <a:spcBef>
                <a:spcPts val="0"/>
              </a:spcBef>
              <a:spcAft>
                <a:spcPts val="0"/>
              </a:spcAft>
              <a:buNone/>
            </a:pPr>
            <a:r>
              <a:rPr lang="es-419" sz="1700">
                <a:solidFill>
                  <a:schemeClr val="lt1"/>
                </a:solidFill>
              </a:rPr>
              <a:t>Pregunta 3: </a:t>
            </a:r>
            <a:r>
              <a:rPr lang="es-419" sz="1600">
                <a:solidFill>
                  <a:schemeClr val="lt1"/>
                </a:solidFill>
              </a:rPr>
              <a:t>¿Podemos agrupar los partidos en diferentes "estilos de juego" basándonos en la cantidad de goles y tiros?</a:t>
            </a:r>
            <a:endParaRPr sz="1600">
              <a:solidFill>
                <a:schemeClr val="lt1"/>
              </a:solidFill>
            </a:endParaRPr>
          </a:p>
          <a:p>
            <a:pPr indent="-330200" lvl="0" marL="457200" rtl="0" algn="l">
              <a:lnSpc>
                <a:spcPct val="137500"/>
              </a:lnSpc>
              <a:spcBef>
                <a:spcPts val="0"/>
              </a:spcBef>
              <a:spcAft>
                <a:spcPts val="0"/>
              </a:spcAft>
              <a:buClr>
                <a:schemeClr val="lt1"/>
              </a:buClr>
              <a:buSzPts val="1600"/>
              <a:buChar char="●"/>
            </a:pPr>
            <a:r>
              <a:rPr lang="es-419" sz="1600">
                <a:solidFill>
                  <a:schemeClr val="lt1"/>
                </a:solidFill>
              </a:rPr>
              <a:t>Aquí pudimos identificar 3 estilos claros: partidos Ofensivos/Abiertos en donde predominaban muchos tiros y muchos goles , partidos Defensivos/Cerrados donde </a:t>
            </a:r>
            <a:r>
              <a:rPr lang="es-419" sz="1600">
                <a:solidFill>
                  <a:schemeClr val="lt1"/>
                </a:solidFill>
              </a:rPr>
              <a:t>habían</a:t>
            </a:r>
            <a:r>
              <a:rPr lang="es-419" sz="1600">
                <a:solidFill>
                  <a:schemeClr val="lt1"/>
                </a:solidFill>
              </a:rPr>
              <a:t> pocos goles y pocos tiros , y partidos Abiertos con Poco Acierto de Cara a </a:t>
            </a:r>
            <a:r>
              <a:rPr lang="es-419" sz="1600">
                <a:solidFill>
                  <a:schemeClr val="lt1"/>
                </a:solidFill>
              </a:rPr>
              <a:t>Portería donde habían </a:t>
            </a:r>
            <a:r>
              <a:rPr lang="es-419" sz="1600">
                <a:solidFill>
                  <a:schemeClr val="lt1"/>
                </a:solidFill>
              </a:rPr>
              <a:t> muchos tiros pero pocos goles.</a:t>
            </a:r>
            <a:endParaRPr sz="1600">
              <a:solidFill>
                <a:schemeClr val="lt1"/>
              </a:solidFill>
            </a:endParaRPr>
          </a:p>
        </p:txBody>
      </p:sp>
      <p:sp>
        <p:nvSpPr>
          <p:cNvPr id="161" name="Google Shape;161;p27"/>
          <p:cNvSpPr txBox="1"/>
          <p:nvPr/>
        </p:nvSpPr>
        <p:spPr>
          <a:xfrm>
            <a:off x="965275" y="2905250"/>
            <a:ext cx="7034100" cy="1620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419" sz="9500">
                <a:solidFill>
                  <a:schemeClr val="lt1"/>
                </a:solidFill>
              </a:rPr>
              <a:t>FIN</a:t>
            </a:r>
            <a:endParaRPr sz="10800">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